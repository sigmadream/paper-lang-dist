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70" r:id="rId10"/>
    <p:sldId id="263" r:id="rId11"/>
    <p:sldId id="269" r:id="rId12"/>
    <p:sldId id="264" r:id="rId13"/>
    <p:sldId id="265" r:id="rId14"/>
    <p:sldId id="266" r:id="rId15"/>
    <p:sldId id="267" r:id="rId16"/>
    <p:sldId id="271" r:id="rId17"/>
  </p:sldIdLst>
  <p:sldSz cx="12192000" cy="6858000"/>
  <p:notesSz cx="9710738" cy="688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0" autoAdjust="0"/>
    <p:restoredTop sz="86456" autoAdjust="0"/>
  </p:normalViewPr>
  <p:slideViewPr>
    <p:cSldViewPr snapToGrid="0">
      <p:cViewPr varScale="1">
        <p:scale>
          <a:sx n="119" d="100"/>
          <a:sy n="119" d="100"/>
        </p:scale>
        <p:origin x="1968" y="176"/>
      </p:cViewPr>
      <p:guideLst/>
    </p:cSldViewPr>
  </p:slideViewPr>
  <p:outlineViewPr>
    <p:cViewPr>
      <p:scale>
        <a:sx n="33" d="100"/>
        <a:sy n="33" d="100"/>
      </p:scale>
      <p:origin x="0" y="-3921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07986" cy="345286"/>
          </a:xfrm>
          <a:prstGeom prst="rect">
            <a:avLst/>
          </a:prstGeom>
        </p:spPr>
        <p:txBody>
          <a:bodyPr vert="horz" lIns="94814" tIns="47407" rIns="94814" bIns="4740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00505" y="0"/>
            <a:ext cx="4207986" cy="345286"/>
          </a:xfrm>
          <a:prstGeom prst="rect">
            <a:avLst/>
          </a:prstGeom>
        </p:spPr>
        <p:txBody>
          <a:bodyPr vert="horz" lIns="94814" tIns="47407" rIns="94814" bIns="47407" rtlCol="0"/>
          <a:lstStyle>
            <a:lvl1pPr algn="r">
              <a:defRPr sz="1200"/>
            </a:lvl1pPr>
          </a:lstStyle>
          <a:p>
            <a:fld id="{4BF4F2EB-2F9C-4314-83BA-9A75D2651E87}" type="datetimeFigureOut">
              <a:rPr lang="ko-KR" altLang="en-US" smtClean="0"/>
              <a:t>2026. 4. 24.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36528"/>
            <a:ext cx="4207986" cy="345285"/>
          </a:xfrm>
          <a:prstGeom prst="rect">
            <a:avLst/>
          </a:prstGeom>
        </p:spPr>
        <p:txBody>
          <a:bodyPr vert="horz" lIns="94814" tIns="47407" rIns="94814" bIns="4740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00505" y="6536528"/>
            <a:ext cx="4207986" cy="345285"/>
          </a:xfrm>
          <a:prstGeom prst="rect">
            <a:avLst/>
          </a:prstGeom>
        </p:spPr>
        <p:txBody>
          <a:bodyPr vert="horz" lIns="94814" tIns="47407" rIns="94814" bIns="47407" rtlCol="0" anchor="b"/>
          <a:lstStyle>
            <a:lvl1pPr algn="r">
              <a:defRPr sz="1200"/>
            </a:lvl1pPr>
          </a:lstStyle>
          <a:p>
            <a:fld id="{1565EE97-FE2A-4E37-A8FD-08817C5FF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57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07986" cy="345286"/>
          </a:xfrm>
          <a:prstGeom prst="rect">
            <a:avLst/>
          </a:prstGeom>
        </p:spPr>
        <p:txBody>
          <a:bodyPr vert="horz" lIns="94814" tIns="47407" rIns="94814" bIns="4740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00505" y="0"/>
            <a:ext cx="4207986" cy="345286"/>
          </a:xfrm>
          <a:prstGeom prst="rect">
            <a:avLst/>
          </a:prstGeom>
        </p:spPr>
        <p:txBody>
          <a:bodyPr vert="horz" lIns="94814" tIns="47407" rIns="94814" bIns="47407" rtlCol="0"/>
          <a:lstStyle>
            <a:lvl1pPr algn="r">
              <a:defRPr sz="1200"/>
            </a:lvl1pPr>
          </a:lstStyle>
          <a:p>
            <a:fld id="{1D76E89B-5FF3-4A12-B653-3167FDEDA29C}" type="datetimeFigureOut">
              <a:rPr lang="ko-KR" altLang="en-US" smtClean="0"/>
              <a:t>2026. 4. 24.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790825" y="860425"/>
            <a:ext cx="4129088" cy="2322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14" tIns="47407" rIns="94814" bIns="4740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71074" y="3311872"/>
            <a:ext cx="7768590" cy="2709714"/>
          </a:xfrm>
          <a:prstGeom prst="rect">
            <a:avLst/>
          </a:prstGeom>
        </p:spPr>
        <p:txBody>
          <a:bodyPr vert="horz" lIns="94814" tIns="47407" rIns="94814" bIns="474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36528"/>
            <a:ext cx="4207986" cy="345285"/>
          </a:xfrm>
          <a:prstGeom prst="rect">
            <a:avLst/>
          </a:prstGeom>
        </p:spPr>
        <p:txBody>
          <a:bodyPr vert="horz" lIns="94814" tIns="47407" rIns="94814" bIns="4740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00505" y="6536528"/>
            <a:ext cx="4207986" cy="345285"/>
          </a:xfrm>
          <a:prstGeom prst="rect">
            <a:avLst/>
          </a:prstGeom>
        </p:spPr>
        <p:txBody>
          <a:bodyPr vert="horz" lIns="94814" tIns="47407" rIns="94814" bIns="47407" rtlCol="0" anchor="b"/>
          <a:lstStyle>
            <a:lvl1pPr algn="r">
              <a:defRPr sz="1200"/>
            </a:lvl1pPr>
          </a:lstStyle>
          <a:p>
            <a:fld id="{1B402D9A-CC3E-41FF-BC42-BD5C07CC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439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457450" y="577850"/>
            <a:ext cx="5137150" cy="28892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3635" name="Rectangle 3"/>
          <p:cNvSpPr>
            <a:spLocks noGrp="1"/>
          </p:cNvSpPr>
          <p:nvPr>
            <p:ph type="body" idx="1"/>
          </p:nvPr>
        </p:nvSpPr>
        <p:spPr>
          <a:xfrm>
            <a:off x="1339722" y="3658353"/>
            <a:ext cx="7372968" cy="3465997"/>
          </a:xfrm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1703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ctr">
            <a:normAutofit/>
          </a:bodyPr>
          <a:lstStyle>
            <a:lvl1pPr algn="r">
              <a:defRPr sz="4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270142"/>
            <a:ext cx="9144000" cy="2665708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9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86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40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6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55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0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18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98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46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1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25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526721"/>
            <a:ext cx="10515600" cy="4650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D663117-1CDE-47CC-AA66-FA61A87FD2D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016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고정점을 이용한 프로그래밍 언어 거리 측정</a:t>
            </a:r>
            <a:r>
              <a:rPr lang="en-US" altLang="ko-KR" dirty="0"/>
              <a:t>(</a:t>
            </a:r>
            <a:r>
              <a:rPr lang="en-US" dirty="0"/>
              <a:t>Measuring the Distance of Programming Languages Using Fixed-Points)</a:t>
            </a:r>
            <a:endParaRPr lang="ko-KR" altLang="en-US" dirty="0"/>
          </a:p>
        </p:txBody>
      </p:sp>
      <p:sp>
        <p:nvSpPr>
          <p:cNvPr id="452611" name="Rectangle 3"/>
          <p:cNvSpPr>
            <a:spLocks noGrp="1"/>
          </p:cNvSpPr>
          <p:nvPr>
            <p:ph type="subTitle" idx="1"/>
          </p:nvPr>
        </p:nvSpPr>
        <p:spPr>
          <a:xfrm>
            <a:off x="1524000" y="3260998"/>
            <a:ext cx="9144000" cy="2665708"/>
          </a:xfrm>
        </p:spPr>
        <p:txBody>
          <a:bodyPr/>
          <a:lstStyle/>
          <a:p>
            <a:r>
              <a:rPr lang="ko-KR" altLang="en-US" dirty="0"/>
              <a:t>부산대학교 대학원 정보융합공학과</a:t>
            </a:r>
            <a:endParaRPr lang="en-US" altLang="ko-KR" dirty="0"/>
          </a:p>
          <a:p>
            <a:r>
              <a:rPr lang="ko-KR" altLang="en-US" dirty="0" err="1"/>
              <a:t>한상곤</a:t>
            </a:r>
            <a:r>
              <a:rPr lang="en-US" altLang="ko-KR" dirty="0"/>
              <a:t>, </a:t>
            </a:r>
            <a:r>
              <a:rPr lang="ko-KR" altLang="en-US" dirty="0" err="1"/>
              <a:t>천준석</a:t>
            </a:r>
            <a:r>
              <a:rPr lang="en-US" altLang="ko-KR" dirty="0"/>
              <a:t>, </a:t>
            </a:r>
            <a:r>
              <a:rPr lang="ko-KR" altLang="en-US" dirty="0"/>
              <a:t>우균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2299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43A3D-937A-B52C-AE7E-B9F244F2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배경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20C5EE-EE03-6311-86B0-90E8A895D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프로그래밍 언어 간 유사성은 코드 </a:t>
            </a:r>
            <a:r>
              <a:rPr lang="ko-KR" altLang="en-US" dirty="0" err="1"/>
              <a:t>이식성</a:t>
            </a:r>
            <a:r>
              <a:rPr lang="en-US" altLang="ko-KR" dirty="0"/>
              <a:t>,</a:t>
            </a:r>
            <a:r>
              <a:rPr lang="ko-KR" altLang="en-US" dirty="0"/>
              <a:t> 프로젝트 관리 측면에서 중요한 요소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기존 코드의 재사용 가능성</a:t>
            </a:r>
            <a:r>
              <a:rPr lang="en-US" altLang="ko-KR" dirty="0"/>
              <a:t>, </a:t>
            </a:r>
            <a:r>
              <a:rPr lang="ko-KR" altLang="en-US" dirty="0"/>
              <a:t>마이그레이션 비용</a:t>
            </a:r>
            <a:r>
              <a:rPr lang="en-US" altLang="ko-KR" dirty="0"/>
              <a:t>, </a:t>
            </a:r>
            <a:r>
              <a:rPr lang="ko-KR" altLang="en-US" dirty="0"/>
              <a:t>그리고 멀티언어 프로젝트의 유지보수에 직접적인 영향을 주는 요소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dirty="0"/>
              <a:t>Java</a:t>
            </a:r>
            <a:r>
              <a:rPr lang="ko-KR" altLang="en-US" dirty="0"/>
              <a:t>와 </a:t>
            </a:r>
            <a:r>
              <a:rPr lang="en-US" dirty="0"/>
              <a:t>Kotlin</a:t>
            </a:r>
            <a:r>
              <a:rPr lang="ko-KR" altLang="en-US" dirty="0" err="1"/>
              <a:t>처럼</a:t>
            </a:r>
            <a:r>
              <a:rPr lang="ko-KR" altLang="en-US" dirty="0"/>
              <a:t> 문법과 실행 생태계가 가까운 언어는 코드 전환과 팀 내 학습 비용이 상대적으로 낮지만</a:t>
            </a:r>
            <a:r>
              <a:rPr lang="en-US" altLang="ko-KR" dirty="0"/>
              <a:t>, </a:t>
            </a:r>
            <a:r>
              <a:rPr lang="en-US" dirty="0"/>
              <a:t>C</a:t>
            </a:r>
            <a:r>
              <a:rPr lang="ko-KR" altLang="en-US" dirty="0"/>
              <a:t>와 </a:t>
            </a:r>
            <a:r>
              <a:rPr lang="en-US" dirty="0"/>
              <a:t>Python</a:t>
            </a:r>
            <a:r>
              <a:rPr lang="ko-KR" altLang="en-US" dirty="0" err="1"/>
              <a:t>처럼</a:t>
            </a:r>
            <a:r>
              <a:rPr lang="ko-KR" altLang="en-US" dirty="0"/>
              <a:t> 실행 모델과 타입 체계가 다른 언어를 함께 다룰 때는 인터페이스 설계와 </a:t>
            </a:r>
            <a:r>
              <a:rPr lang="ko-KR" altLang="en-US" dirty="0" err="1"/>
              <a:t>glue</a:t>
            </a:r>
            <a:r>
              <a:rPr lang="ko-KR" altLang="en-US" dirty="0"/>
              <a:t> 코드가 더 많이 필요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현재 언어 간의 유사성을 판단하는 기준은 주로 문법적 구조</a:t>
            </a:r>
            <a:r>
              <a:rPr lang="en-US" altLang="ko-KR" dirty="0"/>
              <a:t>(Syntax)</a:t>
            </a:r>
            <a:r>
              <a:rPr lang="ko-KR" altLang="en-US" dirty="0"/>
              <a:t>나 프로그래밍 패러다임</a:t>
            </a:r>
            <a:r>
              <a:rPr lang="en-US" altLang="ko-KR" dirty="0"/>
              <a:t>(Object-Oriented, Functional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과 같은 암묵적이고 주관적인 기준에 머물러 있음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정량적 지표의 부재는 언어 간의 실질적인 </a:t>
            </a:r>
            <a:r>
              <a:rPr lang="en-US" altLang="ko-KR" dirty="0"/>
              <a:t>'</a:t>
            </a:r>
            <a:r>
              <a:rPr lang="ko-KR" altLang="en-US" dirty="0"/>
              <a:t>거리</a:t>
            </a:r>
            <a:r>
              <a:rPr lang="en-US" altLang="ko-KR" dirty="0"/>
              <a:t>'</a:t>
            </a:r>
            <a:r>
              <a:rPr lang="ko-KR" altLang="en-US" dirty="0" err="1"/>
              <a:t>를</a:t>
            </a:r>
            <a:r>
              <a:rPr lang="ko-KR" altLang="en-US" dirty="0"/>
              <a:t> 객관적으로 비교하고 분석하는 데 한계로 작용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4C0538-9A39-57C4-0701-0250BE46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4985CF-9D67-F369-8634-EE44C3E0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B511FD-54B8-B947-F0DD-6B9D6863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89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44AE-3D13-22AD-A319-C2753495C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가설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FC878-A5C9-4A13-A2CC-26548473C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기존 언어 유사도 판단은 주관적 기준에 의존하므로, </a:t>
            </a:r>
            <a:r>
              <a:rPr lang="ko-KR" altLang="en-US" dirty="0" err="1"/>
              <a:t>LLM과</a:t>
            </a:r>
            <a:r>
              <a:rPr lang="ko-KR" altLang="en-US" dirty="0"/>
              <a:t> RTT</a:t>
            </a:r>
            <a:r>
              <a:rPr lang="en-US" altLang="ko-KR" dirty="0"/>
              <a:t> </a:t>
            </a:r>
            <a:r>
              <a:rPr lang="ko-KR" altLang="en-US" dirty="0"/>
              <a:t>등을 활용한 실행 기반 정량화가 필요함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자연어 처리의 평가 기법인 왕복 번역</a:t>
            </a:r>
            <a:r>
              <a:rPr lang="en-US" altLang="ko-KR" dirty="0"/>
              <a:t>(Round-trip Translation, RTT)</a:t>
            </a:r>
            <a:r>
              <a:rPr lang="ko-KR" altLang="en-US" dirty="0"/>
              <a:t>을 코드에 적용하여 프로그래밍 언어 간 거리를 정량적으로 도출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ko-KR" altLang="en-US" sz="1600" dirty="0" err="1"/>
              <a:t>조찬우</a:t>
            </a:r>
            <a:r>
              <a:rPr lang="en-US" altLang="ko-KR" sz="1600" dirty="0"/>
              <a:t>, </a:t>
            </a:r>
            <a:r>
              <a:rPr lang="ko-KR" altLang="en-US" sz="1600" dirty="0"/>
              <a:t>김영훈</a:t>
            </a:r>
            <a:r>
              <a:rPr lang="en-US" altLang="ko-KR" sz="1600" dirty="0"/>
              <a:t>, </a:t>
            </a:r>
            <a:r>
              <a:rPr lang="ko-KR" altLang="en-US" sz="1600" dirty="0"/>
              <a:t>우균</a:t>
            </a:r>
            <a:r>
              <a:rPr lang="en-US" altLang="ko-KR" sz="1600" dirty="0"/>
              <a:t>, "</a:t>
            </a:r>
            <a:r>
              <a:rPr lang="ko-KR" altLang="en-US" sz="1600" i="1" dirty="0"/>
              <a:t>왕복 번역과 고정점을 이용한 언어 거리 계산</a:t>
            </a:r>
            <a:r>
              <a:rPr lang="en-US" altLang="ko-KR" sz="1600" dirty="0"/>
              <a:t>," 2025 </a:t>
            </a:r>
            <a:r>
              <a:rPr lang="ko-KR" altLang="en-US" sz="1600" dirty="0"/>
              <a:t>한국정보과학회 학술발표논문집</a:t>
            </a:r>
            <a:r>
              <a:rPr lang="en-US" altLang="ko-KR" sz="1600" dirty="0"/>
              <a:t>, 2025.</a:t>
            </a:r>
          </a:p>
          <a:p>
            <a:pPr>
              <a:lnSpc>
                <a:spcPct val="100000"/>
              </a:lnSpc>
            </a:pPr>
            <a:r>
              <a:rPr lang="en-US" dirty="0"/>
              <a:t>LLM </a:t>
            </a:r>
            <a:r>
              <a:rPr lang="ko-KR" altLang="en-US" dirty="0"/>
              <a:t>기반 코드 번역과 </a:t>
            </a:r>
            <a:r>
              <a:rPr lang="en-US" dirty="0"/>
              <a:t>RTT</a:t>
            </a:r>
            <a:r>
              <a:rPr lang="ko-KR" altLang="en-US" dirty="0"/>
              <a:t>는 코드 수정</a:t>
            </a:r>
            <a:r>
              <a:rPr lang="en-US" altLang="ko-KR" dirty="0"/>
              <a:t>, </a:t>
            </a:r>
            <a:r>
              <a:rPr lang="ko-KR" altLang="en-US" dirty="0"/>
              <a:t>프로그램 복구</a:t>
            </a:r>
            <a:r>
              <a:rPr lang="en-US" altLang="ko-KR" dirty="0"/>
              <a:t>, </a:t>
            </a:r>
            <a:r>
              <a:rPr lang="ko-KR" altLang="en-US" dirty="0"/>
              <a:t>번역 품질 평가 문맥에서 활용되어 왔고</a:t>
            </a:r>
            <a:r>
              <a:rPr lang="en-US" altLang="ko-KR" dirty="0"/>
              <a:t>, </a:t>
            </a:r>
            <a:r>
              <a:rPr lang="ko-KR" altLang="en-US" dirty="0"/>
              <a:t>왕복 후 원문과의 차이를 측정하는 방식은 번역 품질 차이를 드러내는 데 유용함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28730-717B-6B19-1189-9F27CD98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8EDEF-52EB-08A1-A3FF-9410230D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15FE4-14C6-C801-1743-BDD36C28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29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C8CCA-C1EB-B871-F037-2FC5CA95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방법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3ACCC65-C7EC-1BD1-C440-53CDC509B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ko-KR" altLang="en-US" dirty="0"/>
                  <a:t>가설을 검증을 위해 왕복 과정에서 발생하는 정보 손실의 크기와 수렴 양상을 함께 관찰함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ko-KR" altLang="en-US" dirty="0"/>
                  <a:t>자연어 처리</a:t>
                </a:r>
                <a:r>
                  <a:rPr lang="en-US" altLang="ko-KR" dirty="0"/>
                  <a:t>(NLP)</a:t>
                </a:r>
                <a:r>
                  <a:rPr lang="ko-KR" altLang="en-US" dirty="0"/>
                  <a:t>에서 번역 품질을 평가하는 비지도</a:t>
                </a:r>
                <a:r>
                  <a:rPr lang="en-US" altLang="ko-KR" dirty="0"/>
                  <a:t>(unsupervised) </a:t>
                </a:r>
                <a:r>
                  <a:rPr lang="ko-KR" altLang="en-US" dirty="0"/>
                  <a:t>기법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한국어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영어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한국어로 번역 후 원문과 비교</a:t>
                </a:r>
                <a:r>
                  <a:rPr lang="en-US" altLang="ko-KR" dirty="0"/>
                  <a:t>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altLang="ko-KR" dirty="0"/>
                  <a:t>ICML'24</a:t>
                </a:r>
                <a:r>
                  <a:rPr lang="ko-KR" altLang="en-US" dirty="0"/>
                  <a:t>에서 </a:t>
                </a:r>
                <a:r>
                  <a:rPr lang="en-US" altLang="ko-KR" dirty="0" err="1"/>
                  <a:t>Allamanis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등이 제안한 </a:t>
                </a:r>
                <a:r>
                  <a:rPr lang="en-US" altLang="ko-KR" dirty="0"/>
                  <a:t>Round-trip Correctness(RTC)</a:t>
                </a:r>
                <a:r>
                  <a:rPr lang="ko-KR" altLang="en-US" dirty="0"/>
                  <a:t>는 벤치마크 없이 코드 </a:t>
                </a:r>
                <a:r>
                  <a:rPr lang="en-US" altLang="ko-KR" dirty="0"/>
                  <a:t>LLM</a:t>
                </a:r>
                <a:r>
                  <a:rPr lang="ko-KR" altLang="en-US" dirty="0"/>
                  <a:t>을 평가할 수 있는 방법론</a:t>
                </a:r>
                <a:endParaRPr lang="en-US" altLang="ko-KR" dirty="0"/>
              </a:p>
              <a:p>
                <a:pPr lvl="2">
                  <a:lnSpc>
                    <a:spcPct val="110000"/>
                  </a:lnSpc>
                </a:pPr>
                <a:r>
                  <a:rPr lang="ko-KR" altLang="en-US" dirty="0"/>
                  <a:t>예측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코드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설명</a:t>
                </a:r>
                <a:r>
                  <a:rPr lang="en-US" altLang="ko-KR" dirty="0"/>
                  <a:t>)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</a:t>
                </a:r>
                <a:r>
                  <a:rPr lang="ko-KR" altLang="en-US" dirty="0" err="1"/>
                  <a:t>역변환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설명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코드</a:t>
                </a:r>
                <a:r>
                  <a:rPr lang="en-US" altLang="ko-KR" dirty="0"/>
                  <a:t>)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테스트를 통한 의미 동치 검증</a:t>
                </a:r>
                <a:endParaRPr lang="en-US" altLang="ko-KR" dirty="0"/>
              </a:p>
              <a:p>
                <a:pPr lvl="1">
                  <a:lnSpc>
                    <a:spcPct val="110000"/>
                  </a:lnSpc>
                </a:pPr>
                <a:r>
                  <a:rPr lang="ko-KR" altLang="en-US" dirty="0"/>
                  <a:t>코드 </a:t>
                </a:r>
                <a:r>
                  <a:rPr lang="en-US" altLang="ko-KR" dirty="0"/>
                  <a:t>RTT </a:t>
                </a:r>
                <a:r>
                  <a:rPr lang="ko-KR" altLang="en-US" dirty="0"/>
                  <a:t>과정에서 필연적으로 발생하는 정보 손실</a:t>
                </a:r>
                <a:r>
                  <a:rPr lang="en-US" altLang="ko-KR" dirty="0"/>
                  <a:t>(Information Loss) </a:t>
                </a:r>
                <a:r>
                  <a:rPr lang="ko-KR" altLang="en-US" dirty="0"/>
                  <a:t>과 구조적 변형을 두 언어가 공유하는 구조적 공통분모의 크기로 보고, 이를 언어 간 거리로 치환함</a:t>
                </a:r>
                <a:endParaRPr lang="en-US" altLang="ko-KR" dirty="0"/>
              </a:p>
              <a:p>
                <a:pPr lvl="2">
                  <a:lnSpc>
                    <a:spcPct val="110000"/>
                  </a:lnSpc>
                </a:pPr>
                <a:r>
                  <a:rPr lang="en-US" sz="1600" dirty="0"/>
                  <a:t>Miltiadis </a:t>
                </a:r>
                <a:r>
                  <a:rPr lang="en-US" sz="1600" dirty="0" err="1"/>
                  <a:t>Allamanis</a:t>
                </a:r>
                <a:r>
                  <a:rPr lang="en-US" sz="1600" dirty="0"/>
                  <a:t>, Sheena </a:t>
                </a:r>
                <a:r>
                  <a:rPr lang="en-US" sz="1600" dirty="0" err="1"/>
                  <a:t>Panthaplackel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Pengcheng</a:t>
                </a:r>
                <a:r>
                  <a:rPr lang="en-US" sz="1600" dirty="0"/>
                  <a:t> Yin, "</a:t>
                </a:r>
                <a:r>
                  <a:rPr lang="en-US" sz="1600" i="1" dirty="0"/>
                  <a:t>Unsupervised evaluation of code LLMs with round-trip correctness</a:t>
                </a:r>
                <a:r>
                  <a:rPr lang="en-US" sz="1600" dirty="0"/>
                  <a:t>," ICML'24, pp. 1050–1066, 2024.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altLang="ko-KR" dirty="0"/>
                  <a:t>C++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기준으로 </a:t>
                </a:r>
                <a:r>
                  <a:rPr lang="en-US" altLang="ko-KR" dirty="0"/>
                  <a:t>C, Java, Python</a:t>
                </a:r>
                <a:r>
                  <a:rPr lang="ko-KR" altLang="en-US" dirty="0"/>
                  <a:t>을 오가는 왕복 번역 측정</a:t>
                </a:r>
                <a:endParaRPr lang="en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3ACCC65-C7EC-1BD1-C440-53CDC509B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090" b="-136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0BCA20-C583-C6A3-95DE-7C99E820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31E5C-FD45-BD3D-4F60-560A6AF3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FD1CDA-A913-3379-16C3-5AD77A4F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57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CBC43-A5A0-3D99-01F0-778B3961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고정점</a:t>
            </a:r>
            <a:r>
              <a:rPr lang="ko-KR" altLang="en-US" dirty="0"/>
              <a:t> 이론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5C24A30-F829-4BFB-C699-9978F32B7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함수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ko-KR" altLang="en-US" dirty="0"/>
                  <a:t>에 대해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를 만족하는 값 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/>
                  <a:t>를 고정점이라 함</a:t>
                </a:r>
                <a:endParaRPr lang="en-US" altLang="ko-KR" dirty="0"/>
              </a:p>
              <a:p>
                <a:pPr lvl="1">
                  <a:lnSpc>
                    <a:spcPct val="100000"/>
                  </a:lnSpc>
                </a:pPr>
                <a:r>
                  <a:rPr lang="ko-KR" altLang="en-US" dirty="0"/>
                  <a:t>코드를 반복적으로 왕복 번역</a:t>
                </a:r>
                <a:r>
                  <a:rPr lang="en-US" altLang="ko-KR" dirty="0"/>
                  <a:t>(A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</a:t>
                </a:r>
                <a:r>
                  <a:rPr lang="en-US" altLang="ko-KR" dirty="0"/>
                  <a:t>B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</a:t>
                </a:r>
                <a:r>
                  <a:rPr lang="en-US" altLang="ko-KR" dirty="0"/>
                  <a:t>A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</a:t>
                </a:r>
                <a:r>
                  <a:rPr lang="en-US" altLang="ko-KR" dirty="0"/>
                  <a:t>B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할 때 코드가 변하지 않는 상태</a:t>
                </a:r>
                <a:endParaRPr lang="en-US" altLang="ko-KR" dirty="0"/>
              </a:p>
              <a:p>
                <a:pPr lvl="2">
                  <a:lnSpc>
                    <a:spcPct val="100000"/>
                  </a:lnSpc>
                </a:pPr>
                <a:r>
                  <a:rPr lang="en-US" altLang="ko-KR" dirty="0"/>
                  <a:t>0</a:t>
                </a:r>
                <a:r>
                  <a:rPr lang="ko-KR" altLang="en-US" dirty="0"/>
                  <a:t>회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원본</a:t>
                </a:r>
                <a:r>
                  <a:rPr lang="en-US" altLang="ko-KR" dirty="0"/>
                  <a:t>): int a = 0; for(...)</a:t>
                </a:r>
                <a:endParaRPr lang="ko-KR" altLang="en-US" dirty="0"/>
              </a:p>
              <a:p>
                <a:pPr lvl="2">
                  <a:lnSpc>
                    <a:spcPct val="100000"/>
                  </a:lnSpc>
                </a:pPr>
                <a:r>
                  <a:rPr lang="en-US" altLang="ko-KR" dirty="0"/>
                  <a:t>1</a:t>
                </a:r>
                <a:r>
                  <a:rPr lang="ko-KR" altLang="en-US" dirty="0"/>
                  <a:t>회 왕복</a:t>
                </a:r>
                <a:r>
                  <a:rPr lang="en-US" altLang="ko-KR" dirty="0"/>
                  <a:t>: int a = 0; while(...)</a:t>
                </a:r>
                <a:r>
                  <a:rPr lang="ko-KR" altLang="en-US" dirty="0"/>
                  <a:t> 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구조 변형 발생</a:t>
                </a:r>
                <a:r>
                  <a:rPr lang="en-US" altLang="ko-KR" dirty="0"/>
                  <a:t>)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altLang="ko-KR" dirty="0"/>
                  <a:t>2</a:t>
                </a:r>
                <a:r>
                  <a:rPr lang="ko-KR" altLang="en-US" dirty="0"/>
                  <a:t>회 왕복</a:t>
                </a:r>
                <a:r>
                  <a:rPr lang="en-US" altLang="ko-KR" dirty="0"/>
                  <a:t>: int a = 0; while(...)</a:t>
                </a:r>
                <a:r>
                  <a:rPr lang="ko-KR" altLang="en-US" dirty="0"/>
                  <a:t> 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변화 없음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 </a:t>
                </a:r>
                <a:r>
                  <a:rPr lang="ko-KR" altLang="en-US" dirty="0" err="1"/>
                  <a:t>고정점</a:t>
                </a:r>
                <a:r>
                  <a:rPr lang="ko-KR" altLang="en-US" dirty="0"/>
                  <a:t> 도달</a:t>
                </a:r>
                <a:r>
                  <a:rPr lang="en-US" altLang="ko-KR" dirty="0"/>
                  <a:t>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ko-KR" altLang="en-US" dirty="0"/>
                  <a:t>고정점까지의 반복 횟수가 적을수록 두 언어가 구조적으로 유사함을 시사</a:t>
                </a:r>
                <a:endParaRPr lang="en-US" altLang="ko-KR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코드를 반복 변환 시 더 이상 코드가 변경되지 않는 상태인 고정점에 도달하는지 여부 확인</a:t>
                </a:r>
                <a:endParaRPr lang="en-US" altLang="ko-KR" dirty="0"/>
              </a:p>
              <a:p>
                <a:pPr lvl="1">
                  <a:lnSpc>
                    <a:spcPct val="100000"/>
                  </a:lnSpc>
                </a:pPr>
                <a:r>
                  <a:rPr lang="ko-KR" altLang="en-US" dirty="0"/>
                  <a:t>고정점에 도달하기까지 걸리는 반복 횟수</a:t>
                </a:r>
                <a:r>
                  <a:rPr lang="en-US" altLang="ko-KR" dirty="0"/>
                  <a:t>(Iteration count)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ko-KR" altLang="en-US" dirty="0"/>
                  <a:t>원본 코드와 수렴된 코드 간의 형태적 차이</a:t>
                </a:r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5C24A30-F829-4BFB-C699-9978F32B7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C4B66-DD40-8F63-C7C4-2F0AD989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904CDC-2FFC-E51A-723D-7673CE79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8E723-F0EB-0731-224D-8543D4CF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25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F09E5-7A57-9CBC-4328-EEE13541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실험 </a:t>
            </a:r>
            <a:r>
              <a:rPr lang="ko-KR" altLang="en-US" dirty="0" err="1"/>
              <a:t>대상 및</a:t>
            </a:r>
            <a:r>
              <a:rPr lang="ko-KR" altLang="en-US" dirty="0"/>
              <a:t> 평가지표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BE2A21-1A6A-760A-775A-FDB065EF9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백준 온라인 저지</a:t>
            </a:r>
            <a:r>
              <a:rPr lang="en-US" altLang="ko-KR" dirty="0"/>
              <a:t>(BOJ)</a:t>
            </a:r>
            <a:r>
              <a:rPr lang="ko-KR" altLang="en-US" dirty="0"/>
              <a:t>의 </a:t>
            </a:r>
            <a:r>
              <a:rPr lang="en-US" altLang="ko-KR" dirty="0"/>
              <a:t>5</a:t>
            </a:r>
            <a:r>
              <a:rPr lang="ko-KR" altLang="en-US" dirty="0"/>
              <a:t>개 알고리즘 문제</a:t>
            </a:r>
          </a:p>
          <a:p>
            <a:pPr lvl="1"/>
            <a:r>
              <a:rPr lang="ko-KR" altLang="en-US" dirty="0"/>
              <a:t>문자열 탐색</a:t>
            </a:r>
            <a:r>
              <a:rPr lang="en-US" altLang="ko-KR" dirty="0"/>
              <a:t>(1436), </a:t>
            </a:r>
            <a:r>
              <a:rPr lang="ko-KR" altLang="en-US" dirty="0"/>
              <a:t>이분 탐색</a:t>
            </a:r>
            <a:r>
              <a:rPr lang="en-US" altLang="ko-KR" dirty="0"/>
              <a:t>(2110), </a:t>
            </a:r>
            <a:r>
              <a:rPr lang="ko-KR" altLang="en-US" dirty="0" err="1"/>
              <a:t>그리디</a:t>
            </a:r>
            <a:r>
              <a:rPr lang="en-US" altLang="ko-KR" dirty="0"/>
              <a:t>(2217), </a:t>
            </a:r>
            <a:r>
              <a:rPr lang="ko-KR" altLang="en-US" dirty="0"/>
              <a:t>동적 프로그래밍</a:t>
            </a:r>
            <a:r>
              <a:rPr lang="en-US" altLang="ko-KR" dirty="0"/>
              <a:t>(2579), </a:t>
            </a:r>
            <a:r>
              <a:rPr lang="ko-KR" altLang="en-US" dirty="0"/>
              <a:t>그래프 탐색</a:t>
            </a:r>
            <a:r>
              <a:rPr lang="en-US" altLang="ko-KR" dirty="0"/>
              <a:t>(5567)</a:t>
            </a:r>
          </a:p>
          <a:p>
            <a:r>
              <a:rPr lang="ko-KR" altLang="en-US" dirty="0"/>
              <a:t>평가 기준 언어 및 구조적 이질성</a:t>
            </a:r>
          </a:p>
          <a:p>
            <a:pPr lvl="1"/>
            <a:r>
              <a:rPr lang="ko-KR" altLang="en-US" dirty="0"/>
              <a:t>기준 언어</a:t>
            </a:r>
            <a:r>
              <a:rPr lang="en-US" altLang="ko-KR" dirty="0"/>
              <a:t>: C++</a:t>
            </a:r>
          </a:p>
          <a:p>
            <a:pPr lvl="1"/>
            <a:r>
              <a:rPr lang="ko-KR" altLang="en-US" dirty="0"/>
              <a:t>대상 언어</a:t>
            </a:r>
            <a:r>
              <a:rPr lang="en-US" altLang="ko-KR" dirty="0"/>
              <a:t>: C (C++</a:t>
            </a:r>
            <a:r>
              <a:rPr lang="ko-KR" altLang="en-US" dirty="0"/>
              <a:t>의 부분 집합</a:t>
            </a:r>
            <a:r>
              <a:rPr lang="en-US" altLang="ko-KR" dirty="0"/>
              <a:t>), Java (</a:t>
            </a:r>
            <a:r>
              <a:rPr lang="ko-KR" altLang="en-US" dirty="0"/>
              <a:t>객체지향</a:t>
            </a:r>
            <a:r>
              <a:rPr lang="en-US" altLang="ko-KR" dirty="0"/>
              <a:t>), Python (</a:t>
            </a:r>
            <a:r>
              <a:rPr lang="ko-KR" altLang="en-US" dirty="0"/>
              <a:t>동적 타입 및 다른 구문 체계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LLM</a:t>
            </a:r>
            <a:r>
              <a:rPr lang="ko-KR" altLang="en-US" dirty="0"/>
              <a:t> 설정 및 실험 통계</a:t>
            </a:r>
            <a:endParaRPr lang="en-US" altLang="ko-KR" dirty="0"/>
          </a:p>
          <a:p>
            <a:pPr lvl="1"/>
            <a:r>
              <a:rPr lang="ko-KR" altLang="en-US" dirty="0"/>
              <a:t>온도</a:t>
            </a:r>
            <a:r>
              <a:rPr lang="en-US" altLang="ko-KR" dirty="0"/>
              <a:t>(temperature)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 err="1"/>
              <a:t>으로</a:t>
            </a:r>
            <a:r>
              <a:rPr lang="ko-KR" altLang="en-US" dirty="0"/>
              <a:t> 고정</a:t>
            </a:r>
          </a:p>
          <a:p>
            <a:pPr lvl="1"/>
            <a:r>
              <a:rPr lang="ko-KR" altLang="en-US" dirty="0"/>
              <a:t>각 변환 조건별 </a:t>
            </a:r>
            <a:r>
              <a:rPr lang="en-US" altLang="ko-KR" dirty="0"/>
              <a:t>10</a:t>
            </a:r>
            <a:r>
              <a:rPr lang="ko-KR" altLang="en-US" dirty="0"/>
              <a:t>회 반복 실험 수행</a:t>
            </a:r>
          </a:p>
          <a:p>
            <a:pPr lvl="1"/>
            <a:r>
              <a:rPr lang="ko-KR" altLang="en-US" dirty="0"/>
              <a:t>반복 실험 결과를 바탕으로 통계값 산출</a:t>
            </a:r>
            <a:endParaRPr lang="en-US" altLang="ko-KR" dirty="0"/>
          </a:p>
          <a:p>
            <a:r>
              <a:rPr lang="ko-KR" altLang="en-US" dirty="0"/>
              <a:t>평가 지표</a:t>
            </a:r>
          </a:p>
          <a:p>
            <a:pPr lvl="1"/>
            <a:r>
              <a:rPr lang="ko-KR" altLang="en-US" dirty="0"/>
              <a:t>변경 횟수 거리</a:t>
            </a:r>
            <a:r>
              <a:rPr lang="en-US" altLang="ko-KR" dirty="0"/>
              <a:t>: </a:t>
            </a:r>
            <a:r>
              <a:rPr lang="ko-KR" altLang="en-US" dirty="0" err="1"/>
              <a:t>고정점</a:t>
            </a:r>
            <a:r>
              <a:rPr lang="ko-KR" altLang="en-US" dirty="0"/>
              <a:t> 도달까지 완료된 왕복 주기 수</a:t>
            </a:r>
          </a:p>
          <a:p>
            <a:pPr lvl="1"/>
            <a:r>
              <a:rPr lang="en-US" altLang="ko-KR" dirty="0"/>
              <a:t>MOSS </a:t>
            </a:r>
            <a:r>
              <a:rPr lang="ko-KR" altLang="en-US" dirty="0"/>
              <a:t>유사도</a:t>
            </a:r>
            <a:r>
              <a:rPr lang="en-US" altLang="ko-KR" dirty="0"/>
              <a:t>: </a:t>
            </a:r>
            <a:r>
              <a:rPr lang="ko-KR" altLang="en-US" dirty="0"/>
              <a:t>스탠포드 </a:t>
            </a:r>
            <a:r>
              <a:rPr lang="en-US" altLang="ko-KR" dirty="0"/>
              <a:t>MOSS </a:t>
            </a:r>
            <a:r>
              <a:rPr lang="ko-KR" altLang="en-US" dirty="0"/>
              <a:t>시스템을 사용해 원본 </a:t>
            </a:r>
            <a:r>
              <a:rPr lang="en-US" altLang="ko-KR" dirty="0"/>
              <a:t>C++</a:t>
            </a:r>
            <a:r>
              <a:rPr lang="ko-KR" altLang="en-US" dirty="0"/>
              <a:t>와 왕복 후 </a:t>
            </a:r>
            <a:r>
              <a:rPr lang="en-US" altLang="ko-KR" dirty="0"/>
              <a:t>C++ </a:t>
            </a:r>
            <a:r>
              <a:rPr lang="ko-KR" altLang="en-US" dirty="0"/>
              <a:t>코드 비교</a:t>
            </a:r>
          </a:p>
          <a:p>
            <a:pPr lvl="1"/>
            <a:r>
              <a:rPr lang="ko-KR" altLang="en-US" dirty="0"/>
              <a:t>의미 보존 여부</a:t>
            </a:r>
            <a:r>
              <a:rPr lang="en-US" altLang="ko-KR" dirty="0"/>
              <a:t>: </a:t>
            </a:r>
            <a:r>
              <a:rPr lang="ko-KR" altLang="en-US" dirty="0"/>
              <a:t>왕복 코드가 테스트 입출력을 모두 통과했는지 여부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D4DAE-CD90-0DA0-1899-03564F29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FC65E2-3513-F526-4AC9-6BC0F521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7E127-8B0F-C688-D986-601F0E35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34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F7579-6BFA-041C-21E4-90232E53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  <a:r>
              <a:rPr lang="en-US" altLang="ko-KR" dirty="0"/>
              <a:t>: </a:t>
            </a:r>
            <a:r>
              <a:rPr lang="ko-KR" altLang="en-US" dirty="0"/>
              <a:t>변경 횟수 거리와 의미 보존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5DFD7-FA45-3883-818D-2490EF8A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59567"/>
            <a:ext cx="10515600" cy="2917396"/>
          </a:xfrm>
        </p:spPr>
        <p:txBody>
          <a:bodyPr>
            <a:normAutofit/>
          </a:bodyPr>
          <a:lstStyle/>
          <a:p>
            <a:r>
              <a:rPr lang="en-US" altLang="ko-KR" dirty="0"/>
              <a:t>qwen2.5: </a:t>
            </a:r>
            <a:r>
              <a:rPr lang="ko-KR" altLang="en-US" dirty="0"/>
              <a:t>언어 종속성 없이 균일한 수렴 속도</a:t>
            </a:r>
            <a:r>
              <a:rPr lang="en-US" altLang="ko-KR" dirty="0"/>
              <a:t>(2.2~2.4</a:t>
            </a:r>
            <a:r>
              <a:rPr lang="ko-KR" altLang="en-US" dirty="0"/>
              <a:t>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특정 언어에만 강하게 편향되지 않고</a:t>
            </a:r>
            <a:r>
              <a:rPr lang="en-US" altLang="ko-KR" dirty="0"/>
              <a:t>, </a:t>
            </a:r>
            <a:r>
              <a:rPr lang="ko-KR" altLang="en-US" dirty="0"/>
              <a:t>비교적 일관된 왕복 번역 특성을 보였다고 해석할 수 있음</a:t>
            </a:r>
            <a:endParaRPr lang="en-US" altLang="ko-KR" dirty="0"/>
          </a:p>
          <a:p>
            <a:pPr lvl="1"/>
            <a:r>
              <a:rPr lang="en-US" altLang="ko-KR" dirty="0"/>
              <a:t>"</a:t>
            </a:r>
            <a:r>
              <a:rPr lang="ko-KR" altLang="en-US" dirty="0"/>
              <a:t>수렴</a:t>
            </a:r>
            <a:r>
              <a:rPr lang="en-US" altLang="ko-KR" dirty="0"/>
              <a:t>"</a:t>
            </a:r>
            <a:r>
              <a:rPr lang="ko-KR" altLang="en-US" dirty="0"/>
              <a:t>은 완전 </a:t>
            </a:r>
            <a:r>
              <a:rPr lang="ko-KR" altLang="en-US" dirty="0" err="1"/>
              <a:t>복원이라기보다</a:t>
            </a:r>
            <a:r>
              <a:rPr lang="en-US" altLang="ko-KR" dirty="0"/>
              <a:t>, </a:t>
            </a:r>
            <a:r>
              <a:rPr lang="ko-KR" altLang="en-US" dirty="0"/>
              <a:t>더 번역해도 결과가 크게 달라지지 않는 상태</a:t>
            </a:r>
            <a:endParaRPr lang="en-US" altLang="ko-KR" dirty="0"/>
          </a:p>
          <a:p>
            <a:r>
              <a:rPr lang="en-US" altLang="ko-KR" dirty="0"/>
              <a:t>gpt-5.4: C </a:t>
            </a:r>
            <a:r>
              <a:rPr lang="ko-KR" altLang="en-US" dirty="0"/>
              <a:t>구문에서는 </a:t>
            </a:r>
            <a:r>
              <a:rPr lang="en-US" altLang="ko-KR" dirty="0"/>
              <a:t>100% </a:t>
            </a:r>
            <a:r>
              <a:rPr lang="ko-KR" altLang="en-US" dirty="0"/>
              <a:t>보존 성공했으나 높은 반복 횟수</a:t>
            </a:r>
            <a:r>
              <a:rPr lang="en-US" altLang="ko-KR" dirty="0"/>
              <a:t>(5.4</a:t>
            </a:r>
            <a:r>
              <a:rPr lang="ko-KR" altLang="en-US" dirty="0"/>
              <a:t>회</a:t>
            </a:r>
            <a:r>
              <a:rPr lang="en-US" altLang="ko-KR" dirty="0"/>
              <a:t>) </a:t>
            </a:r>
            <a:r>
              <a:rPr lang="ko-KR" altLang="en-US" dirty="0"/>
              <a:t>필요</a:t>
            </a:r>
            <a:r>
              <a:rPr lang="en-US" altLang="ko-KR" dirty="0"/>
              <a:t>, Java </a:t>
            </a:r>
            <a:r>
              <a:rPr lang="ko-KR" altLang="en-US" dirty="0"/>
              <a:t>및 </a:t>
            </a:r>
            <a:r>
              <a:rPr lang="en-US" altLang="ko-KR" dirty="0"/>
              <a:t>Python </a:t>
            </a:r>
            <a:r>
              <a:rPr lang="ko-KR" altLang="en-US" dirty="0"/>
              <a:t>같이 구조적 이질성이 큰 구문에선 실패</a:t>
            </a:r>
            <a:r>
              <a:rPr lang="en-US" altLang="ko-KR" dirty="0"/>
              <a:t>(0%)</a:t>
            </a:r>
          </a:p>
          <a:p>
            <a:pPr lvl="1"/>
            <a:r>
              <a:rPr lang="ko-KR" altLang="en-US" dirty="0"/>
              <a:t>안정화까지 더 많은 반복이 필요하고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dirty="0"/>
              <a:t>Java</a:t>
            </a:r>
            <a:r>
              <a:rPr lang="ko-KR" altLang="en-US" dirty="0"/>
              <a:t>와 </a:t>
            </a:r>
            <a:r>
              <a:rPr lang="en-US" dirty="0"/>
              <a:t>Python</a:t>
            </a:r>
            <a:r>
              <a:rPr lang="ko-KR" altLang="en-US" dirty="0"/>
              <a:t>에서는 언어 구조 차이를 충분히 흡수하지 못했음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275B33-AF01-1566-FA0C-CBFFAF118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0A1E7D-0B3A-E22D-ED2E-51463C70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BB50DB-E10F-C307-C56D-2269642C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D2C0D01F-942F-D35E-C548-E307B2653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4524873"/>
                  </p:ext>
                </p:extLst>
              </p:nvPr>
            </p:nvGraphicFramePr>
            <p:xfrm>
              <a:off x="1239012" y="1437933"/>
              <a:ext cx="9509760" cy="167640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3169920">
                      <a:extLst>
                        <a:ext uri="{9D8B030D-6E8A-4147-A177-3AD203B41FA5}">
                          <a16:colId xmlns:a16="http://schemas.microsoft.com/office/drawing/2014/main" val="1146505166"/>
                        </a:ext>
                      </a:extLst>
                    </a:gridCol>
                    <a:gridCol w="3169920">
                      <a:extLst>
                        <a:ext uri="{9D8B030D-6E8A-4147-A177-3AD203B41FA5}">
                          <a16:colId xmlns:a16="http://schemas.microsoft.com/office/drawing/2014/main" val="1571185575"/>
                        </a:ext>
                      </a:extLst>
                    </a:gridCol>
                    <a:gridCol w="3169920">
                      <a:extLst>
                        <a:ext uri="{9D8B030D-6E8A-4147-A177-3AD203B41FA5}">
                          <a16:colId xmlns:a16="http://schemas.microsoft.com/office/drawing/2014/main" val="140928765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언어 쌍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b="1" dirty="0">
                              <a:effectLst/>
                            </a:rPr>
                            <a:t>qwen2.5 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평균 반복 횟수 및 </a:t>
                          </a:r>
                          <a:r>
                            <a:rPr lang="ko-KR" altLang="en-US" b="1" dirty="0" err="1">
                              <a:effectLst/>
                            </a:rPr>
                            <a:t>통과율</a:t>
                          </a:r>
                          <a:endParaRPr lang="ko-KR" altLang="en-US" b="1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b="1" dirty="0">
                              <a:effectLst/>
                            </a:rPr>
                            <a:t>gpt-5.4 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평균 반복 횟수 및 </a:t>
                          </a:r>
                          <a:r>
                            <a:rPr lang="ko-KR" altLang="en-US" b="1" dirty="0" err="1">
                              <a:effectLst/>
                            </a:rPr>
                            <a:t>통과율</a:t>
                          </a:r>
                          <a:endParaRPr lang="ko-KR" altLang="en-US" b="1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7165685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>
                              <a:effectLst/>
                            </a:rPr>
                            <a:t> C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2.2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5.4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9416283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>
                              <a:effectLst/>
                            </a:rPr>
                            <a:t> Java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2.4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1.2</a:t>
                          </a:r>
                          <a:r>
                            <a:rPr lang="ko-KR" altLang="en-US" dirty="0">
                              <a:effectLst/>
                            </a:rPr>
                            <a:t>회</a:t>
                          </a:r>
                          <a:r>
                            <a:rPr lang="en-US" altLang="ko-KR" dirty="0">
                              <a:effectLst/>
                            </a:rPr>
                            <a:t> (0%)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709434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dirty="0">
                              <a:effectLst/>
                            </a:rPr>
                            <a:t> Python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2.2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1.0</a:t>
                          </a:r>
                          <a:r>
                            <a:rPr lang="ko-KR" altLang="en-US" dirty="0">
                              <a:effectLst/>
                            </a:rPr>
                            <a:t>회</a:t>
                          </a:r>
                          <a:r>
                            <a:rPr lang="en-US" altLang="ko-KR" dirty="0">
                              <a:effectLst/>
                            </a:rPr>
                            <a:t> (0%)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022752921"/>
                      </a:ext>
                    </a:extLst>
                  </a:tr>
                </a:tbl>
              </a:graphicData>
            </a:graphic>
          </p:graphicFrame>
        </mc:Choice>
        <mc:Fallback xmlns="" xmlns:m="http://schemas.openxmlformats.org/officeDocument/2006/math" xmlns:ns2="http://schemas.microsoft.com/office/drawing/2014/main" xmlns:p14="http://schemas.microsoft.com/office/powerpoint/2010/main">
          <p:graphicFrame>
            <p:nvGraphicFramePr>
              <p:cNvPr id="8" name="표 7">
                <a:extLst>
                  <a:ext uri="{FF2B5EF4-FFF2-40B4-BE49-F238E27FC236}">
                    <ns2:creationId id="{D2C0D01F-942F-D35E-C548-E307B2653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val="2604524873"/>
                  </p:ext>
                </p:extLst>
              </p:nvPr>
            </p:nvGraphicFramePr>
            <p:xfrm>
              <a:off x="1239012" y="1437933"/>
              <a:ext cx="9509760" cy="167640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3169920">
                      <a:extLst>
                        <a:ext uri="{9D8B030D-6E8A-4147-A177-3AD203B41FA5}">
                          <ns2:colId val="1146505166"/>
                        </a:ext>
                      </a:extLst>
                    </a:gridCol>
                    <a:gridCol w="3169920">
                      <a:extLst>
                        <a:ext uri="{9D8B030D-6E8A-4147-A177-3AD203B41FA5}">
                          <ns2:colId val="1571185575"/>
                        </a:ext>
                      </a:extLst>
                    </a:gridCol>
                    <a:gridCol w="3169920">
                      <a:extLst>
                        <a:ext uri="{9D8B030D-6E8A-4147-A177-3AD203B41FA5}">
                          <ns2:colId val="1409287654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언어 쌍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b="1" dirty="0">
                              <a:effectLst/>
                            </a:rPr>
                            <a:t>qwen2.5 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평균 반복 횟수 및 </a:t>
                          </a:r>
                          <a:r>
                            <a:rPr lang="ko-KR" altLang="en-US" b="1" dirty="0" err="1">
                              <a:effectLst/>
                            </a:rPr>
                            <a:t>통과율</a:t>
                          </a:r>
                          <a:endParaRPr lang="ko-KR" altLang="en-US" b="1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b="1" dirty="0">
                              <a:effectLst/>
                            </a:rPr>
                            <a:t>gpt-5.4 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평균 반복 횟수 및 </a:t>
                          </a:r>
                          <a:r>
                            <a:rPr lang="ko-KR" altLang="en-US" b="1" dirty="0" err="1">
                              <a:effectLst/>
                            </a:rPr>
                            <a:t>통과율</a:t>
                          </a:r>
                          <a:endParaRPr lang="ko-KR" altLang="en-US" b="1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3716568556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400" t="-196296" r="-200400" b="-2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2.2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5.4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294162839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400" t="-285714" r="-200400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2.4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1.2</a:t>
                          </a:r>
                          <a:r>
                            <a:rPr lang="ko-KR" altLang="en-US" dirty="0">
                              <a:effectLst/>
                            </a:rPr>
                            <a:t>회</a:t>
                          </a:r>
                          <a:r>
                            <a:rPr lang="en-US" altLang="ko-KR" dirty="0">
                              <a:effectLst/>
                            </a:rPr>
                            <a:t> (0%)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27094347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400" t="-385714" r="-200400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2.2</a:t>
                          </a:r>
                          <a:r>
                            <a:rPr lang="ko-KR" altLang="en-US" dirty="0">
                              <a:effectLst/>
                            </a:rPr>
                            <a:t>회 </a:t>
                          </a:r>
                          <a:r>
                            <a:rPr lang="en-US" altLang="ko-KR" dirty="0">
                              <a:effectLst/>
                            </a:rPr>
                            <a:t>(100%)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1.0</a:t>
                          </a:r>
                          <a:r>
                            <a:rPr lang="ko-KR" altLang="en-US" dirty="0">
                              <a:effectLst/>
                            </a:rPr>
                            <a:t>회</a:t>
                          </a:r>
                          <a:r>
                            <a:rPr lang="en-US" altLang="ko-KR" dirty="0">
                              <a:effectLst/>
                            </a:rPr>
                            <a:t> (0%)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20227529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983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94C9B-EC1A-B187-4C19-08BC6DA8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MOSS </a:t>
            </a:r>
            <a:r>
              <a:rPr lang="ko-KR" altLang="en-US" dirty="0"/>
              <a:t>유사도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7D240B-620B-1021-72A5-F9877EFA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B44184-223E-64B0-6B3D-DCA0B527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C734E8-79A5-9FC8-0455-08D72C9C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C213343-7384-7865-0F27-CB5190E07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4438" y="1097281"/>
            <a:ext cx="4759361" cy="5079682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qwen2.5: Python </a:t>
            </a:r>
            <a:r>
              <a:rPr lang="ko-KR" altLang="en-US" dirty="0"/>
              <a:t>변환 시 전면 재작성 수준의 구조 변화가 일어났으나 전반적으로 의미 보존 및 작동이 안정적임</a:t>
            </a:r>
          </a:p>
          <a:p>
            <a:r>
              <a:rPr lang="en-US" altLang="ko-KR" dirty="0"/>
              <a:t>gpt-5.4: </a:t>
            </a:r>
            <a:r>
              <a:rPr lang="ko-KR" altLang="en-US" dirty="0"/>
              <a:t>원본 코드의 뼈대와 문법을 최대한 유지하려는 경향을 보임</a:t>
            </a:r>
            <a:endParaRPr lang="en-US" altLang="ko-KR" dirty="0"/>
          </a:p>
          <a:p>
            <a:r>
              <a:rPr lang="en-US" altLang="ko-KR" dirty="0"/>
              <a:t>의미 보존이 곧 원문 형태 보존을 의미하지는 않으므로, MOSS</a:t>
            </a:r>
            <a:r>
              <a:rPr lang="ko-KR" altLang="en-US" dirty="0"/>
              <a:t>는 변수명이나 공백보다 구조적 유사성을 더 중요하게 보므로</a:t>
            </a:r>
            <a:r>
              <a:rPr lang="en-US" altLang="ko-KR" dirty="0"/>
              <a:t>, </a:t>
            </a:r>
            <a:r>
              <a:rPr lang="ko-KR" altLang="en-US" dirty="0"/>
              <a:t>이런 결과는 원문 형태를 더 잘 보존한 번역으로 해석할 수 있음 </a:t>
            </a:r>
            <a:r>
              <a:rPr lang="en-US" altLang="ko-KR" dirty="0">
                <a:sym typeface="Wingdings" pitchFamily="2" charset="2"/>
              </a:rPr>
              <a:t>→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/>
              <a:t>"</a:t>
            </a:r>
            <a:r>
              <a:rPr lang="ko-KR" altLang="en-US" dirty="0"/>
              <a:t>잘 번역했는가</a:t>
            </a:r>
            <a:r>
              <a:rPr lang="en-US" altLang="ko-KR" dirty="0"/>
              <a:t>"</a:t>
            </a:r>
            <a:r>
              <a:rPr lang="ko-KR" altLang="en-US" dirty="0"/>
              <a:t>라기보다 </a:t>
            </a:r>
            <a:r>
              <a:rPr lang="en-US" altLang="ko-KR" dirty="0"/>
              <a:t>"</a:t>
            </a:r>
            <a:r>
              <a:rPr lang="ko-KR" altLang="en-US" dirty="0"/>
              <a:t>어떤 방식으로 번역되었는가</a:t>
            </a:r>
            <a:r>
              <a:rPr lang="en-US" altLang="ko-KR" dirty="0"/>
              <a:t>"</a:t>
            </a:r>
            <a:endParaRPr lang="ko-KR" alt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A6BFF-B070-390A-3BE0-8EA03F2CB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50466"/>
            <a:ext cx="5257800" cy="37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62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E2D6-4758-2FED-AC00-9416C692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DF551-BC9E-FBE1-B7C7-66201592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MOSS </a:t>
            </a:r>
            <a:r>
              <a:rPr lang="ko-KR" altLang="en-US" dirty="0"/>
              <a:t>유사도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585E2-B9B6-3322-60C7-C9C04FB5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27B13A-BD0F-095F-E0E9-5B8A00D6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1ECA3-F490-B1C5-2F11-7FAA2EA0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7438A3E-061A-42D3-A9BF-5A09BD496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91087"/>
            <a:ext cx="10515600" cy="2185875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qwen2.5: Python </a:t>
            </a:r>
            <a:r>
              <a:rPr lang="ko-KR" altLang="en-US" dirty="0"/>
              <a:t>변환 시 전면 재작성 수준의 구조 변화가 일어났으나 전반적으로 의미 보존 및 작동이 안정적임</a:t>
            </a:r>
          </a:p>
          <a:p>
            <a:r>
              <a:rPr lang="en-US" altLang="ko-KR" dirty="0"/>
              <a:t>gpt-5.4: </a:t>
            </a:r>
            <a:r>
              <a:rPr lang="ko-KR" altLang="en-US" dirty="0"/>
              <a:t>원본 코드의 뼈대와 문법을 최대한 유지하려는 경향을 보임</a:t>
            </a:r>
            <a:endParaRPr lang="en-US" altLang="ko-KR" dirty="0"/>
          </a:p>
          <a:p>
            <a:r>
              <a:rPr lang="en-US" altLang="ko-KR" dirty="0"/>
              <a:t>의미 보존이 곧 원문 형태 보존을 의미하지는 않으므로, MOSS</a:t>
            </a:r>
            <a:r>
              <a:rPr lang="ko-KR" altLang="en-US" dirty="0"/>
              <a:t>는 변수명이나 공백보다 구조적 유사성을 더 중요하게 보므로</a:t>
            </a:r>
            <a:r>
              <a:rPr lang="en-US" altLang="ko-KR" dirty="0"/>
              <a:t>, </a:t>
            </a:r>
            <a:r>
              <a:rPr lang="ko-KR" altLang="en-US" dirty="0"/>
              <a:t>이런 결과는 원문 형태를 더 잘 보존한 번역으로 해석할 수 있음 </a:t>
            </a:r>
            <a:r>
              <a:rPr lang="en-US" altLang="ko-KR" dirty="0">
                <a:sym typeface="Wingdings" pitchFamily="2" charset="2"/>
              </a:rPr>
              <a:t>→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/>
              <a:t>"</a:t>
            </a:r>
            <a:r>
              <a:rPr lang="ko-KR" altLang="en-US" dirty="0"/>
              <a:t>잘 번역했는가</a:t>
            </a:r>
            <a:r>
              <a:rPr lang="en-US" altLang="ko-KR" dirty="0"/>
              <a:t>"</a:t>
            </a:r>
            <a:r>
              <a:rPr lang="ko-KR" altLang="en-US" dirty="0"/>
              <a:t>라기보다 </a:t>
            </a:r>
            <a:r>
              <a:rPr lang="en-US" altLang="ko-KR" dirty="0"/>
              <a:t>"</a:t>
            </a:r>
            <a:r>
              <a:rPr lang="ko-KR" altLang="en-US" dirty="0"/>
              <a:t>어떤 방식으로 번역되었는가</a:t>
            </a:r>
            <a:r>
              <a:rPr lang="en-US" altLang="ko-KR" dirty="0"/>
              <a:t>"</a:t>
            </a:r>
            <a:endParaRPr lang="ko-KR" alt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내용 개체 틀 6">
                <a:extLst>
                  <a:ext uri="{FF2B5EF4-FFF2-40B4-BE49-F238E27FC236}">
                    <a16:creationId xmlns:a16="http://schemas.microsoft.com/office/drawing/2014/main" id="{660F2A77-258F-56A8-FC56-A92FBDA770C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242566" y="1399404"/>
              <a:ext cx="7706869" cy="245364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987296">
                      <a:extLst>
                        <a:ext uri="{9D8B030D-6E8A-4147-A177-3AD203B41FA5}">
                          <a16:colId xmlns:a16="http://schemas.microsoft.com/office/drawing/2014/main" val="253667635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a16:colId xmlns:a16="http://schemas.microsoft.com/office/drawing/2014/main" val="1434916414"/>
                        </a:ext>
                      </a:extLst>
                    </a:gridCol>
                    <a:gridCol w="4165093">
                      <a:extLst>
                        <a:ext uri="{9D8B030D-6E8A-4147-A177-3AD203B41FA5}">
                          <a16:colId xmlns:a16="http://schemas.microsoft.com/office/drawing/2014/main" val="82654734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언어 쌍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모델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b="1">
                              <a:effectLst/>
                            </a:rPr>
                            <a:t>MOSS </a:t>
                          </a:r>
                          <a:r>
                            <a:rPr lang="ko-KR" altLang="en-US" b="1">
                              <a:effectLst/>
                            </a:rPr>
                            <a:t>유사도 </a:t>
                          </a:r>
                          <a:r>
                            <a:rPr lang="en-US" altLang="ko-KR" b="1">
                              <a:effectLst/>
                            </a:rPr>
                            <a:t>(</a:t>
                          </a:r>
                          <a:r>
                            <a:rPr lang="ko-KR" altLang="en-US" b="1">
                              <a:effectLst/>
                            </a:rPr>
                            <a:t>평균 </a:t>
                          </a:r>
                          <a:r>
                            <a:rPr lang="en-US" altLang="ko-KR" b="1">
                              <a:effectLst/>
                            </a:rPr>
                            <a:t>± </a:t>
                          </a:r>
                          <a:r>
                            <a:rPr lang="ko-KR" altLang="en-US" b="1">
                              <a:effectLst/>
                            </a:rPr>
                            <a:t>표준편차</a:t>
                          </a:r>
                          <a:r>
                            <a:rPr lang="en-US" altLang="ko-KR" b="1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91712706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dirty="0">
                              <a:effectLst/>
                            </a:rPr>
                            <a:t> C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19.3 ± 22.5%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91639451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25.4 ± 24.4%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944890775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dirty="0">
                              <a:effectLst/>
                            </a:rPr>
                            <a:t> Java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63.8 ± 14.2%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555031301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36.7 ± 41.0%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237074517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dirty="0">
                              <a:effectLst/>
                            </a:rPr>
                            <a:t> Python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0.0 ± 0.0% (</a:t>
                          </a:r>
                          <a:r>
                            <a:rPr lang="ko-KR" altLang="en-US" dirty="0">
                              <a:effectLst/>
                            </a:rPr>
                            <a:t>전면 재작성</a:t>
                          </a:r>
                          <a:r>
                            <a:rPr lang="en-US" altLang="ko-KR" dirty="0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087553997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36.4 ± 23.8%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995312478"/>
                      </a:ext>
                    </a:extLst>
                  </a:tr>
                </a:tbl>
              </a:graphicData>
            </a:graphic>
          </p:graphicFrame>
        </mc:Choice>
        <mc:Fallback xmlns:p14="http://schemas.microsoft.com/office/powerpoint/2010/main" xmlns:ns2="http://schemas.microsoft.com/office/drawing/2014/main" xmlns:m="http://schemas.openxmlformats.org/officeDocument/2006/math" xmlns="http://schemas.openxmlformats.org/presentationml/2006/main">
          <graphicFrame>
            <nvGraphicFramePr>
              <cNvPr id="10" name="내용 개체 틀 6">
                <a:extLst>
                  <a:ext uri="{FF2B5EF4-FFF2-40B4-BE49-F238E27FC236}">
                    <ns2:creationId id="{124325C0-3BBE-070A-96D1-EB9BF4EA47D9}"/>
                  </a:ext>
                </a:extLst>
              </cNvPr>
              <cNvGraphicFramePr>
                <a:graphicFrameLocks/>
              </cNvGraphicFramePr>
              <nvPr>
                <extLst>
                  <ext uri="{D42A27DB-BD31-4B8C-83A1-F6EECF244321}">
                    <p14:modId val="3774284286"/>
                  </ext>
                </extLst>
              </nvPr>
            </nvGraphicFramePr>
            <xfrm>
              <a:off x="2242566" y="1399404"/>
              <a:ext cx="7706869" cy="2453640"/>
            </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987296">
                      <a:extLst>
                        <a:ext uri="{9D8B030D-6E8A-4147-A177-3AD203B41FA5}">
                          <ns2:colId val="253667635"/>
                        </a:ext>
                      </a:extLst>
                    </a:gridCol>
                    <a:gridCol w="1554480">
                      <a:extLst>
                        <a:ext uri="{9D8B030D-6E8A-4147-A177-3AD203B41FA5}">
                          <ns2:colId val="1434916414"/>
                        </a:ext>
                      </a:extLst>
                    </a:gridCol>
                    <a:gridCol w="4165093">
                      <a:extLst>
                        <a:ext uri="{9D8B030D-6E8A-4147-A177-3AD203B41FA5}">
                          <ns2:colId val="826547340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언어 쌍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b="1" dirty="0">
                              <a:effectLst/>
                            </a:rPr>
                            <a:t>모델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b="1">
                              <a:effectLst/>
                            </a:rPr>
                            <a:t>MOSS </a:t>
                          </a:r>
                          <a:r>
                            <a:rPr lang="ko-KR" altLang="en-US" b="1">
                              <a:effectLst/>
                            </a:rPr>
                            <a:t>유사도 </a:t>
                          </a:r>
                          <a:r>
                            <a:rPr lang="en-US" altLang="ko-KR" b="1">
                              <a:effectLst/>
                            </a:rPr>
                            <a:t>(</a:t>
                          </a:r>
                          <a:r>
                            <a:rPr lang="ko-KR" altLang="en-US" b="1">
                              <a:effectLst/>
                            </a:rPr>
                            <a:t>평균 </a:t>
                          </a:r>
                          <a:r>
                            <a:rPr lang="en-US" altLang="ko-KR" b="1">
                              <a:effectLst/>
                            </a:rPr>
                            <a:t>± </a:t>
                          </a:r>
                          <a:r>
                            <a:rPr lang="ko-KR" altLang="en-US" b="1">
                              <a:effectLst/>
                            </a:rPr>
                            <a:t>표준편차</a:t>
                          </a:r>
                          <a:r>
                            <a:rPr lang="en-US" altLang="ko-KR" b="1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391712706"/>
                      </a:ext>
                    </a:extLst>
                  </a:tr>
                  <a:tr h="350520">
                    <a:tc rowSpan="2"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637" t="-56364" r="-287898" b="-21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19.3 ± 22.5%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916394519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25.4 ± 24.4%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1944890775"/>
                      </a:ext>
                    </a:extLst>
                  </a:tr>
                  <a:tr h="350520">
                    <a:tc rowSpan="2"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637" t="-153571" r="-287898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63.8 ± 14.2%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3555031301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36.7 ± 41.0%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1237074517"/>
                      </a:ext>
                    </a:extLst>
                  </a:tr>
                  <a:tr h="350520">
                    <a:tc rowSpan="2"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637" t="-258182" r="-287898" b="-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>
                              <a:effectLst/>
                            </a:rPr>
                            <a:t>0.0 ± 0.0% (</a:t>
                          </a:r>
                          <a:r>
                            <a:rPr lang="ko-KR" altLang="en-US">
                              <a:effectLst/>
                            </a:rPr>
                            <a:t>전면 재작성</a:t>
                          </a:r>
                          <a:r>
                            <a:rPr lang="en-US" altLang="ko-KR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2087553997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36.4 ± 23.8%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ns2:rowId val="2995312478"/>
                      </a:ext>
                    </a:extLst>
                  </a:tr>
                </a:tbl>
              </a:graphicData>
            </a:graphic>
          </graphicFrame>
        </mc:Fallback>
      </mc:AlternateContent>
    </p:spTree>
    <p:extLst>
      <p:ext uri="{BB962C8B-B14F-4D97-AF65-F5344CB8AC3E}">
        <p14:creationId xmlns:p14="http://schemas.microsoft.com/office/powerpoint/2010/main" val="83662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8A836-F2C9-342B-EEDD-8E5D2A2E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F38804-AB22-B9CE-616D-308308EB2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 결과는 언어 간 거리가 단순 문법 유사성이 아니라, 의미 보존과 구조 보존의 상호작용으로 나타남을 시사함. 기존 방법은 정적 특성</a:t>
            </a:r>
            <a:r>
              <a:rPr lang="en-US" altLang="ko-KR" dirty="0"/>
              <a:t>(</a:t>
            </a:r>
            <a:r>
              <a:rPr lang="ko-KR" altLang="en-US" dirty="0"/>
              <a:t>문법</a:t>
            </a:r>
            <a:r>
              <a:rPr lang="en-US" altLang="ko-KR" dirty="0"/>
              <a:t>, </a:t>
            </a:r>
            <a:r>
              <a:rPr lang="ko-KR" altLang="en-US" dirty="0"/>
              <a:t>키워드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의존하였지만</a:t>
            </a:r>
            <a:r>
              <a:rPr lang="en-US" altLang="ko-KR" dirty="0"/>
              <a:t>, </a:t>
            </a:r>
            <a:r>
              <a:rPr lang="ko-KR" altLang="en-US" dirty="0"/>
              <a:t>본 연구는 </a:t>
            </a:r>
            <a:r>
              <a:rPr lang="en-US" dirty="0"/>
              <a:t>LLM</a:t>
            </a:r>
            <a:r>
              <a:rPr lang="ko-KR" altLang="en-US" dirty="0"/>
              <a:t>의 동적 번역 과정에서 나타나는 정보 손실을 거리로 사용하여 런타임 의미 보존까지 검증하는 실행 기반</a:t>
            </a:r>
            <a:r>
              <a:rPr lang="en-US" altLang="ko-KR" dirty="0"/>
              <a:t>(</a:t>
            </a:r>
            <a:r>
              <a:rPr lang="en-US" dirty="0"/>
              <a:t>execution-based) </a:t>
            </a:r>
            <a:r>
              <a:rPr lang="ko-KR" altLang="en-US" dirty="0"/>
              <a:t>평가를 통해 프로그램 변환 과정의 </a:t>
            </a:r>
            <a:r>
              <a:rPr lang="en-US" altLang="ko-KR" dirty="0"/>
              <a:t>"</a:t>
            </a:r>
            <a:r>
              <a:rPr lang="ko-KR" altLang="en-US" dirty="0"/>
              <a:t>언어 사이 거리 정량 측정법</a:t>
            </a:r>
            <a:r>
              <a:rPr lang="en-US" altLang="ko-KR" dirty="0"/>
              <a:t>"</a:t>
            </a:r>
            <a:r>
              <a:rPr lang="ko-KR" altLang="en-US" dirty="0"/>
              <a:t>을 제시</a:t>
            </a:r>
            <a:endParaRPr lang="en-US" altLang="ko-KR" dirty="0"/>
          </a:p>
          <a:p>
            <a:r>
              <a:rPr lang="en-US" dirty="0"/>
              <a:t>LLM </a:t>
            </a:r>
            <a:r>
              <a:rPr lang="ko-KR" altLang="en-US" dirty="0"/>
              <a:t>기반 왕복 번역과 실행 기반 평가를 통해 프로그래밍 언어 간 거리를 정량적으로 추정할 수 있음 </a:t>
            </a:r>
            <a:endParaRPr lang="en-US" altLang="ko-KR" dirty="0"/>
          </a:p>
          <a:p>
            <a:pPr lvl="1"/>
            <a:r>
              <a:rPr lang="ko-KR" altLang="en-US" dirty="0"/>
              <a:t>실험 결과는 언어별 구조적 차이가 번역 손실과 의미 보존에 유의미한 영향을 미친다는 점을 확인</a:t>
            </a:r>
            <a:endParaRPr lang="en-US" altLang="ko-KR" dirty="0"/>
          </a:p>
          <a:p>
            <a:pPr lvl="1"/>
            <a:r>
              <a:rPr lang="ko-KR" altLang="en-US" dirty="0"/>
              <a:t>언어 유사성을 문법적 직관이 아니라 실행 관점에서 재정의할 수 있음</a:t>
            </a:r>
            <a:endParaRPr lang="en-US" altLang="ko-KR" dirty="0"/>
          </a:p>
          <a:p>
            <a:r>
              <a:rPr lang="ko-KR" altLang="en-US" dirty="0"/>
              <a:t>프로그래밍 언어 간 유사성은 단순한 문법적 유사도가 아니라</a:t>
            </a:r>
            <a:r>
              <a:rPr lang="en-US" altLang="ko-KR" dirty="0"/>
              <a:t>, </a:t>
            </a:r>
            <a:r>
              <a:rPr lang="ko-KR" altLang="en-US" dirty="0"/>
              <a:t>번역 후 의미 복원 가능성과 구조 유지 정도를 포함하는 다차원적 개념으로 다뤄져야 함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B323FC-ED7A-1278-50A4-5421E229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024F3C-1FF4-9C0A-7011-BBAEB995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461A5-763B-97D0-BF06-4EA4C8F4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F6E3-674B-D4CA-8520-D738DB09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2F825-B445-E780-3035-11F9198E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연구 과제 및 방향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6EADCD-3861-5A66-0297-BF5A69AC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다만 본 실험은 제한된 문제와 언어 조합을 대상으로 수행되었으므로, 더 많은 언어 쌍으로 확장하고 </a:t>
            </a:r>
            <a:r>
              <a:rPr lang="en-US" dirty="0"/>
              <a:t>C++ </a:t>
            </a:r>
            <a:r>
              <a:rPr lang="ko-KR" altLang="en-US" dirty="0"/>
              <a:t>외의 기준 언어로도 확장해 결과의 일관성을 검증</a:t>
            </a:r>
            <a:endParaRPr lang="en-US" altLang="ko-KR" dirty="0"/>
          </a:p>
          <a:p>
            <a:pPr lvl="1"/>
            <a:r>
              <a:rPr lang="ko-KR" altLang="en-US" dirty="0"/>
              <a:t>지금 관찰한 현상이 특정 언어 조합에만 우연히 나타난 결과인지</a:t>
            </a:r>
            <a:r>
              <a:rPr lang="en-US" altLang="ko-KR" dirty="0"/>
              <a:t>, </a:t>
            </a:r>
            <a:r>
              <a:rPr lang="ko-KR" altLang="en-US" dirty="0"/>
              <a:t>아니면 더 일반적인 경향인지를 확인</a:t>
            </a:r>
            <a:endParaRPr lang="en-US" altLang="ko-KR" dirty="0"/>
          </a:p>
          <a:p>
            <a:r>
              <a:rPr lang="ko-KR" altLang="en-US" dirty="0"/>
              <a:t>복합 지표 설계</a:t>
            </a:r>
            <a:r>
              <a:rPr lang="en-US" altLang="ko-KR" dirty="0"/>
              <a:t>(</a:t>
            </a:r>
            <a:r>
              <a:rPr lang="ko-KR" altLang="en-US" dirty="0"/>
              <a:t>실행 가능성</a:t>
            </a:r>
            <a:r>
              <a:rPr lang="en-US" altLang="ko-KR" dirty="0"/>
              <a:t>, </a:t>
            </a:r>
            <a:r>
              <a:rPr lang="ko-KR" altLang="en-US" dirty="0"/>
              <a:t>의미 보존</a:t>
            </a:r>
            <a:r>
              <a:rPr lang="en-US" altLang="ko-KR" dirty="0"/>
              <a:t>, </a:t>
            </a:r>
            <a:r>
              <a:rPr lang="ko-KR" altLang="en-US" dirty="0"/>
              <a:t>구조 보존 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실행 가능성은 코드가 실제로 돌아가는지를</a:t>
            </a:r>
            <a:r>
              <a:rPr lang="en-US" altLang="ko-KR" dirty="0"/>
              <a:t>, </a:t>
            </a:r>
            <a:r>
              <a:rPr lang="ko-KR" altLang="en-US" dirty="0"/>
              <a:t>의미 보존은 결과가 원래와 같은 기능을 하는지를</a:t>
            </a:r>
            <a:r>
              <a:rPr lang="en-US" altLang="ko-KR" dirty="0"/>
              <a:t>, </a:t>
            </a:r>
            <a:r>
              <a:rPr lang="ko-KR" altLang="en-US" dirty="0"/>
              <a:t>구조 보존은 코드 형태나 제어 흐름이 얼마나 유지되는지를 보여줌</a:t>
            </a:r>
            <a:endParaRPr lang="en-US" altLang="ko-KR" dirty="0"/>
          </a:p>
          <a:p>
            <a:r>
              <a:rPr lang="ko-KR" altLang="en-US" dirty="0"/>
              <a:t>번역 실패 사례를 유형화하여 어떤 언어적 특징이 손실을 유발하는지 규명</a:t>
            </a:r>
            <a:endParaRPr lang="en-US" altLang="ko-KR" dirty="0"/>
          </a:p>
          <a:p>
            <a:pPr lvl="1"/>
            <a:r>
              <a:rPr lang="ko-KR" altLang="en-US" dirty="0"/>
              <a:t>번역 실패를 단순한 오류로 보지 않고</a:t>
            </a:r>
            <a:r>
              <a:rPr lang="en-US" altLang="ko-KR" dirty="0"/>
              <a:t>, </a:t>
            </a:r>
            <a:r>
              <a:rPr lang="ko-KR" altLang="en-US" dirty="0"/>
              <a:t>어떤 언어적 특징이 실패를 유발하는지 체계적으로 정리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266F6-AF99-178E-68C5-B38D260E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61CA28-0657-36AB-F4E3-D6546FC0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B2E20-8DBA-5391-778D-4F62F5B5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346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3132A-287D-797E-573E-651DFF15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r>
              <a:rPr lang="en-US" altLang="ko-KR" dirty="0"/>
              <a:t>1: MOSS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0F1EF9-2C93-0257-B444-927F50D652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스탠포드 대학교 </a:t>
                </a:r>
                <a:r>
                  <a:rPr lang="en-US" altLang="ko-KR" dirty="0"/>
                  <a:t>Alex Aiken </a:t>
                </a:r>
                <a:r>
                  <a:rPr lang="ko-KR" altLang="en-US" dirty="0"/>
                  <a:t>교수가 개발한 소프트웨어 유사도 측정 시스템 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→ 프로그래밍 과제의 표절 탐지</a:t>
                </a:r>
              </a:p>
              <a:p>
                <a:r>
                  <a:rPr lang="ko-KR" altLang="en-US" dirty="0"/>
                  <a:t>동작 원리</a:t>
                </a:r>
              </a:p>
              <a:p>
                <a:pPr lvl="1"/>
                <a:r>
                  <a:rPr lang="ko-KR" altLang="en-US" dirty="0" err="1"/>
                  <a:t>전처리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공백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주석 제거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변수명을 일반 토큰으로 치환 </a:t>
                </a:r>
                <a:r>
                  <a:rPr lang="en-US" altLang="ko-KR" dirty="0"/>
                  <a:t>(</a:t>
                </a:r>
                <a:r>
                  <a:rPr lang="ko-KR" altLang="en-US" dirty="0" err="1"/>
                  <a:t>변수명</a:t>
                </a:r>
                <a:r>
                  <a:rPr lang="ko-KR" altLang="en-US" dirty="0"/>
                  <a:t> 변경에 강건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K-gram </a:t>
                </a:r>
                <a:r>
                  <a:rPr lang="ko-KR" altLang="en-US" dirty="0"/>
                  <a:t>생성</a:t>
                </a:r>
                <a:r>
                  <a:rPr lang="en-US" altLang="ko-KR" dirty="0"/>
                  <a:t>: </a:t>
                </a:r>
                <a:r>
                  <a:rPr lang="ko-KR" altLang="en-US" dirty="0" err="1"/>
                  <a:t>토큰화된</a:t>
                </a:r>
                <a:r>
                  <a:rPr lang="ko-KR" altLang="en-US" dirty="0"/>
                  <a:t> 코드를 연속 k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dirty="0"/>
                  <a:t>개 토큰 단위로 분할</a:t>
                </a:r>
              </a:p>
              <a:p>
                <a:pPr lvl="1"/>
                <a:r>
                  <a:rPr lang="en-US" altLang="ko-KR" dirty="0"/>
                  <a:t>Winnowing </a:t>
                </a:r>
                <a:r>
                  <a:rPr lang="ko-KR" altLang="en-US" dirty="0"/>
                  <a:t>알고리즘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해시 윈도우를 </a:t>
                </a:r>
                <a:r>
                  <a:rPr lang="ko-KR" altLang="en-US" dirty="0" err="1"/>
                  <a:t>슬라이딩하며</a:t>
                </a:r>
                <a:r>
                  <a:rPr lang="ko-KR" altLang="en-US" dirty="0"/>
                  <a:t> 대표 해시</a:t>
                </a:r>
                <a:r>
                  <a:rPr lang="en-US" altLang="ko-KR" dirty="0"/>
                  <a:t>(fingerprint)</a:t>
                </a:r>
                <a:r>
                  <a:rPr lang="ko-KR" altLang="en-US" dirty="0"/>
                  <a:t>를 선택</a:t>
                </a:r>
              </a:p>
              <a:p>
                <a:pPr lvl="1"/>
                <a:r>
                  <a:rPr lang="ko-KR" altLang="en-US" dirty="0"/>
                  <a:t>비교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두 코드의 </a:t>
                </a:r>
                <a:r>
                  <a:rPr lang="en-US" altLang="ko-KR" dirty="0"/>
                  <a:t>fingerprint </a:t>
                </a:r>
                <a:r>
                  <a:rPr lang="ko-KR" altLang="en-US" dirty="0"/>
                  <a:t>집합 간 공통 요소 비율로 유사도 산출</a:t>
                </a:r>
              </a:p>
              <a:p>
                <a:r>
                  <a:rPr lang="ko-KR" altLang="en-US" dirty="0"/>
                  <a:t>본 연구에서는 원본 코드와 왕복 번역 코드 사이의 구조적 유사도를 </a:t>
                </a:r>
                <a:r>
                  <a:rPr lang="ko-KR" altLang="en-US" dirty="0" err="1"/>
                  <a:t>정량화하는</a:t>
                </a:r>
                <a:r>
                  <a:rPr lang="ko-KR" altLang="en-US" dirty="0"/>
                  <a:t> 지표로 활용</a:t>
                </a:r>
                <a:endParaRPr lang="en-US" dirty="0"/>
              </a:p>
            </p:txBody>
          </p:sp>
        </mc:Choice>
        <mc:Fallback xmlns="" xmlns:m="http://schemas.openxmlformats.org/officeDocument/2006/math" xmlns:ns2="http://schemas.microsoft.com/office/drawing/2014/main" xmlns:p14="http://schemas.microsoft.com/office/powerpoint/2010/main">
          <p:sp>
            <p:nvSpPr>
              <p:cNvPr id="3" name="내용 개체 틀 2">
                <a:extLst>
                  <a:ext uri="{FF2B5EF4-FFF2-40B4-BE49-F238E27FC236}">
                    <ns2:creationId id="{0B0F1EF9-2C93-0257-B444-927F50D652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E0C3A4-A89B-C727-C9CD-CF851FFF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1B4404-C2E4-D7FC-4FFD-269CCBDF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7A04B-D9A5-C1C0-CB15-9979BA4A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32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D6EB1-3C77-FA4E-A4FE-36F46135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r>
              <a:rPr lang="en-US" altLang="ko-KR" dirty="0"/>
              <a:t>2: </a:t>
            </a:r>
            <a:r>
              <a:rPr lang="ko-KR" altLang="en-US" dirty="0"/>
              <a:t>문제 선별 기준</a:t>
            </a:r>
            <a:endParaRPr 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546F368D-0F4A-B6FC-6CA2-22446700E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425475"/>
              </p:ext>
            </p:extLst>
          </p:nvPr>
        </p:nvGraphicFramePr>
        <p:xfrm>
          <a:off x="1899666" y="2377440"/>
          <a:ext cx="8392668" cy="210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68730">
                  <a:extLst>
                    <a:ext uri="{9D8B030D-6E8A-4147-A177-3AD203B41FA5}">
                      <a16:colId xmlns:a16="http://schemas.microsoft.com/office/drawing/2014/main" val="1100763268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472419390"/>
                    </a:ext>
                  </a:extLst>
                </a:gridCol>
                <a:gridCol w="4691634">
                  <a:extLst>
                    <a:ext uri="{9D8B030D-6E8A-4147-A177-3AD203B41FA5}">
                      <a16:colId xmlns:a16="http://schemas.microsoft.com/office/drawing/2014/main" val="112492726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 dirty="0">
                          <a:effectLst/>
                        </a:rPr>
                        <a:t>문제 번호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>
                          <a:effectLst/>
                        </a:rPr>
                        <a:t>알고리즘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>
                          <a:effectLst/>
                        </a:rPr>
                        <a:t>특성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10268218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1436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문자열 탐색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언어별 문자열 처리 방식 차이 관찰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80869783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2110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이분 탐색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수치 연산 중심의 알고리즘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63641978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2217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그리디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정렬</a:t>
                      </a:r>
                      <a:r>
                        <a:rPr lang="en-US" altLang="ko-KR">
                          <a:effectLst/>
                        </a:rPr>
                        <a:t>·</a:t>
                      </a:r>
                      <a:r>
                        <a:rPr lang="ko-KR" altLang="en-US">
                          <a:effectLst/>
                        </a:rPr>
                        <a:t>탐욕적 선택 패턴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22059574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2579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동적 프로그래밍</a:t>
                      </a:r>
                      <a:r>
                        <a:rPr lang="en-US" altLang="ko-KR">
                          <a:effectLst/>
                        </a:rPr>
                        <a:t>(DP)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재귀</a:t>
                      </a:r>
                      <a:r>
                        <a:rPr lang="en-US" altLang="ko-KR">
                          <a:effectLst/>
                        </a:rPr>
                        <a:t>/</a:t>
                      </a:r>
                      <a:r>
                        <a:rPr lang="ko-KR" altLang="en-US">
                          <a:effectLst/>
                        </a:rPr>
                        <a:t>메모이제이션 구조 차이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58501353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5567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그래프 탐색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자료구조</a:t>
                      </a: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ko-KR" altLang="en-US" dirty="0">
                          <a:effectLst/>
                        </a:rPr>
                        <a:t>인접 리스트 등</a:t>
                      </a:r>
                      <a:r>
                        <a:rPr lang="en-US" altLang="ko-KR" dirty="0">
                          <a:effectLst/>
                        </a:rPr>
                        <a:t>) </a:t>
                      </a:r>
                      <a:r>
                        <a:rPr lang="ko-KR" altLang="en-US" dirty="0">
                          <a:effectLst/>
                        </a:rPr>
                        <a:t>표현 차이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595413164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71CF7-B28B-5CD3-139E-F0CDE519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044BD2-F27C-816C-32A0-220EE8B9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63B85-E97D-A669-5368-3FBCF5B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702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AA4E1-D371-3ADD-D71D-1A771B0C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r>
              <a:rPr lang="en-US" altLang="ko-KR" dirty="0"/>
              <a:t>3: LLM </a:t>
            </a:r>
            <a:r>
              <a:rPr lang="ko-KR" altLang="en-US" dirty="0"/>
              <a:t>비교</a:t>
            </a:r>
            <a:endParaRPr 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8060020E-8A65-7AFD-00CA-1D20C0291A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994246"/>
              </p:ext>
            </p:extLst>
          </p:nvPr>
        </p:nvGraphicFramePr>
        <p:xfrm>
          <a:off x="1645921" y="2377440"/>
          <a:ext cx="8900159" cy="210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21006">
                  <a:extLst>
                    <a:ext uri="{9D8B030D-6E8A-4147-A177-3AD203B41FA5}">
                      <a16:colId xmlns:a16="http://schemas.microsoft.com/office/drawing/2014/main" val="1922697161"/>
                    </a:ext>
                  </a:extLst>
                </a:gridCol>
                <a:gridCol w="3410658">
                  <a:extLst>
                    <a:ext uri="{9D8B030D-6E8A-4147-A177-3AD203B41FA5}">
                      <a16:colId xmlns:a16="http://schemas.microsoft.com/office/drawing/2014/main" val="2724649491"/>
                    </a:ext>
                  </a:extLst>
                </a:gridCol>
                <a:gridCol w="3968495">
                  <a:extLst>
                    <a:ext uri="{9D8B030D-6E8A-4147-A177-3AD203B41FA5}">
                      <a16:colId xmlns:a16="http://schemas.microsoft.com/office/drawing/2014/main" val="1660892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 dirty="0">
                          <a:effectLst/>
                        </a:rPr>
                        <a:t>항목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qwen2.5-coder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gpt-5.4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87346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개발사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Alibaba Cloud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OpenAI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310105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유형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오픈소스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상용</a:t>
                      </a: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en-US" dirty="0">
                          <a:effectLst/>
                        </a:rPr>
                        <a:t>API)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03355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모델 크기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0.5B ~ 32B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비공개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630712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지원 언어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>
                          <a:effectLst/>
                        </a:rPr>
                        <a:t>40</a:t>
                      </a:r>
                      <a:r>
                        <a:rPr lang="ko-KR" altLang="en-US">
                          <a:effectLst/>
                        </a:rPr>
                        <a:t>개</a:t>
                      </a:r>
                      <a:r>
                        <a:rPr lang="en-US" altLang="ko-KR">
                          <a:effectLst/>
                        </a:rPr>
                        <a:t>+ </a:t>
                      </a:r>
                      <a:r>
                        <a:rPr lang="ko-KR" altLang="en-US">
                          <a:effectLst/>
                        </a:rPr>
                        <a:t>프로그래밍 언어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다수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174526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주요 강점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코드 생성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수정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추론에 특화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범용 추론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강력한 언어 이해력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011707167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F4C8D-A560-D423-01F0-DBC21063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FE8A25-DB1C-6087-6700-5F3250E8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F8F98-869B-8CDB-358C-CA07B1BE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58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466A5-29D5-B0F1-7E5F-48D7DFAC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r>
              <a:rPr lang="en-US" altLang="ko-KR" dirty="0"/>
              <a:t>4: </a:t>
            </a:r>
            <a:r>
              <a:rPr lang="ko-KR" altLang="en-US" dirty="0"/>
              <a:t>프로그래밍 언어 간 거리 측정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393051-F2C0-B109-91E2-194F517F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80273-F6DD-8D07-A466-95542D83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FA530-A621-3BBB-C983-8C04C994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3185668-4E02-0FCF-98D0-9173F5CC7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886016"/>
              </p:ext>
            </p:extLst>
          </p:nvPr>
        </p:nvGraphicFramePr>
        <p:xfrm>
          <a:off x="838200" y="2552700"/>
          <a:ext cx="10515600" cy="1752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61032">
                  <a:extLst>
                    <a:ext uri="{9D8B030D-6E8A-4147-A177-3AD203B41FA5}">
                      <a16:colId xmlns:a16="http://schemas.microsoft.com/office/drawing/2014/main" val="3589969437"/>
                    </a:ext>
                  </a:extLst>
                </a:gridCol>
                <a:gridCol w="8354568">
                  <a:extLst>
                    <a:ext uri="{9D8B030D-6E8A-4147-A177-3AD203B41FA5}">
                      <a16:colId xmlns:a16="http://schemas.microsoft.com/office/drawing/2014/main" val="3515718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>
                          <a:effectLst/>
                        </a:rPr>
                        <a:t>접근법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b="1">
                          <a:effectLst/>
                        </a:rPr>
                        <a:t>설명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58861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키워드 집합 비교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 err="1">
                          <a:effectLst/>
                        </a:rPr>
                        <a:t>예약어</a:t>
                      </a:r>
                      <a:r>
                        <a:rPr lang="ko-KR" altLang="en-US" dirty="0">
                          <a:effectLst/>
                        </a:rPr>
                        <a:t> 집합 간 </a:t>
                      </a:r>
                      <a:r>
                        <a:rPr lang="en-US" altLang="ko-KR" dirty="0">
                          <a:effectLst/>
                        </a:rPr>
                        <a:t>Jaccard </a:t>
                      </a:r>
                      <a:r>
                        <a:rPr lang="ko-KR" altLang="en-US" dirty="0">
                          <a:effectLst/>
                        </a:rPr>
                        <a:t>유사도 측정 </a:t>
                      </a: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ko-KR" altLang="en-US" dirty="0">
                          <a:effectLst/>
                        </a:rPr>
                        <a:t>단순하지만 의미적 깊이 부족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154499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AST </a:t>
                      </a:r>
                      <a:r>
                        <a:rPr lang="ko-KR" altLang="en-US">
                          <a:effectLst/>
                        </a:rPr>
                        <a:t>구조 비교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추상 구문 트리의 편집 거리</a:t>
                      </a:r>
                      <a:r>
                        <a:rPr lang="en-US" altLang="ko-KR" dirty="0">
                          <a:effectLst/>
                        </a:rPr>
                        <a:t>(TSED)</a:t>
                      </a:r>
                      <a:r>
                        <a:rPr lang="ko-KR" altLang="en-US" dirty="0">
                          <a:effectLst/>
                        </a:rPr>
                        <a:t>로 구조적 차이 측정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72681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벡터 임베딩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코드 </a:t>
                      </a:r>
                      <a:r>
                        <a:rPr lang="ko-KR" altLang="en-US" dirty="0" err="1">
                          <a:effectLst/>
                        </a:rPr>
                        <a:t>스니펫을</a:t>
                      </a:r>
                      <a:r>
                        <a:rPr lang="ko-KR" altLang="en-US" dirty="0">
                          <a:effectLst/>
                        </a:rPr>
                        <a:t> 벡터 공간에 매핑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코사인 유사도로 비교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97521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</a:rPr>
                        <a:t>특성 벡터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</a:rPr>
                        <a:t>타입 시스템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패러다임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메모리 관리 등 특성을 </a:t>
                      </a:r>
                      <a:r>
                        <a:rPr lang="ko-KR" altLang="en-US" dirty="0" err="1">
                          <a:effectLst/>
                        </a:rPr>
                        <a:t>수치화하여</a:t>
                      </a:r>
                      <a:r>
                        <a:rPr lang="ko-KR" altLang="en-US" dirty="0">
                          <a:effectLst/>
                        </a:rPr>
                        <a:t> 유클리드 거리 계산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874505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773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FA2D-9D02-E862-94F7-CB945B53B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r>
              <a:rPr lang="en-US" altLang="ko-KR" dirty="0"/>
              <a:t>5:</a:t>
            </a:r>
            <a:r>
              <a:rPr lang="ko-KR" altLang="en-US" dirty="0"/>
              <a:t> </a:t>
            </a:r>
            <a:r>
              <a:rPr lang="en-US" altLang="ko-KR" dirty="0"/>
              <a:t>MOSS</a:t>
            </a:r>
            <a:r>
              <a:rPr lang="ko-KR" altLang="en-US" dirty="0"/>
              <a:t> 유사도</a:t>
            </a:r>
            <a:r>
              <a:rPr lang="en-US" altLang="ko-KR" dirty="0"/>
              <a:t> 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E3055-B8AF-DF39-C8E3-501BF76D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PNU Programming Language Lab.</a:t>
            </a:r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8BECF-2557-AC73-0422-5D11E208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Measuring the Distance of Programming Languages Using Fixed-Points</a:t>
            </a:r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5E541-EC39-2F3E-549E-1A70BB06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63117-1CDE-47CC-AA66-FA61A87FD2D4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내용 개체 틀 6">
                <a:extLst>
                  <a:ext uri="{FF2B5EF4-FFF2-40B4-BE49-F238E27FC236}">
                    <a16:creationId xmlns:a16="http://schemas.microsoft.com/office/drawing/2014/main" id="{68F327CB-BFF8-7D8F-086C-2A577A8E533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33454301"/>
                  </p:ext>
                </p:extLst>
              </p:nvPr>
            </p:nvGraphicFramePr>
            <p:xfrm>
              <a:off x="2723522" y="2202180"/>
              <a:ext cx="6744956" cy="245364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739257">
                      <a:extLst>
                        <a:ext uri="{9D8B030D-6E8A-4147-A177-3AD203B41FA5}">
                          <a16:colId xmlns:a16="http://schemas.microsoft.com/office/drawing/2014/main" val="253667635"/>
                        </a:ext>
                      </a:extLst>
                    </a:gridCol>
                    <a:gridCol w="1360461">
                      <a:extLst>
                        <a:ext uri="{9D8B030D-6E8A-4147-A177-3AD203B41FA5}">
                          <a16:colId xmlns:a16="http://schemas.microsoft.com/office/drawing/2014/main" val="1434916414"/>
                        </a:ext>
                      </a:extLst>
                    </a:gridCol>
                    <a:gridCol w="3645238">
                      <a:extLst>
                        <a:ext uri="{9D8B030D-6E8A-4147-A177-3AD203B41FA5}">
                          <a16:colId xmlns:a16="http://schemas.microsoft.com/office/drawing/2014/main" val="82654734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sz="1800" b="1" dirty="0">
                              <a:effectLst/>
                            </a:rPr>
                            <a:t>언어 쌍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sz="1800" b="1" dirty="0">
                              <a:effectLst/>
                            </a:rPr>
                            <a:t>모델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1800" b="1">
                              <a:effectLst/>
                            </a:rPr>
                            <a:t>MOSS </a:t>
                          </a:r>
                          <a:r>
                            <a:rPr lang="ko-KR" altLang="en-US" sz="1800" b="1">
                              <a:effectLst/>
                            </a:rPr>
                            <a:t>유사도 </a:t>
                          </a:r>
                          <a:r>
                            <a:rPr lang="en-US" altLang="ko-KR" sz="1800" b="1">
                              <a:effectLst/>
                            </a:rPr>
                            <a:t>(</a:t>
                          </a:r>
                          <a:r>
                            <a:rPr lang="ko-KR" altLang="en-US" sz="1800" b="1">
                              <a:effectLst/>
                            </a:rPr>
                            <a:t>평균 </a:t>
                          </a:r>
                          <a:r>
                            <a:rPr lang="en-US" altLang="ko-KR" sz="1800" b="1">
                              <a:effectLst/>
                            </a:rPr>
                            <a:t>± </a:t>
                          </a:r>
                          <a:r>
                            <a:rPr lang="ko-KR" altLang="en-US" sz="1800" b="1">
                              <a:effectLst/>
                            </a:rPr>
                            <a:t>표준편차</a:t>
                          </a:r>
                          <a:r>
                            <a:rPr lang="en-US" altLang="ko-KR" sz="1800" b="1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91712706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C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19.3 ± 22.5%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91639451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25.4 ± 24.4%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944890775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Java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63.8 ± 14.2%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555031301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36.7 ± 41.0%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237074517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C++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 Python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0.0 ± 0.0% (</a:t>
                          </a:r>
                          <a:r>
                            <a:rPr lang="ko-KR" altLang="en-US" sz="1800" dirty="0">
                              <a:effectLst/>
                            </a:rPr>
                            <a:t>전면 재작성</a:t>
                          </a:r>
                          <a:r>
                            <a:rPr lang="en-US" altLang="ko-KR" sz="1800" dirty="0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087553997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36.4 ± 23.8%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9953124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내용 개체 틀 6">
                <a:extLst>
                  <a:ext uri="{FF2B5EF4-FFF2-40B4-BE49-F238E27FC236}">
                    <a16:creationId xmlns:a16="http://schemas.microsoft.com/office/drawing/2014/main" id="{68F327CB-BFF8-7D8F-086C-2A577A8E533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33454301"/>
                  </p:ext>
                </p:extLst>
              </p:nvPr>
            </p:nvGraphicFramePr>
            <p:xfrm>
              <a:off x="2723522" y="2202180"/>
              <a:ext cx="6744956" cy="245364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739257">
                      <a:extLst>
                        <a:ext uri="{9D8B030D-6E8A-4147-A177-3AD203B41FA5}">
                          <a16:colId xmlns:a16="http://schemas.microsoft.com/office/drawing/2014/main" val="253667635"/>
                        </a:ext>
                      </a:extLst>
                    </a:gridCol>
                    <a:gridCol w="1360461">
                      <a:extLst>
                        <a:ext uri="{9D8B030D-6E8A-4147-A177-3AD203B41FA5}">
                          <a16:colId xmlns:a16="http://schemas.microsoft.com/office/drawing/2014/main" val="1434916414"/>
                        </a:ext>
                      </a:extLst>
                    </a:gridCol>
                    <a:gridCol w="3645238">
                      <a:extLst>
                        <a:ext uri="{9D8B030D-6E8A-4147-A177-3AD203B41FA5}">
                          <a16:colId xmlns:a16="http://schemas.microsoft.com/office/drawing/2014/main" val="826547340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sz="1800" b="1" dirty="0">
                              <a:effectLst/>
                            </a:rPr>
                            <a:t>언어 쌍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altLang="en-US" sz="1800" b="1" dirty="0">
                              <a:effectLst/>
                            </a:rPr>
                            <a:t>모델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1800" b="1">
                              <a:effectLst/>
                            </a:rPr>
                            <a:t>MOSS </a:t>
                          </a:r>
                          <a:r>
                            <a:rPr lang="ko-KR" altLang="en-US" sz="1800" b="1">
                              <a:effectLst/>
                            </a:rPr>
                            <a:t>유사도 </a:t>
                          </a:r>
                          <a:r>
                            <a:rPr lang="en-US" altLang="ko-KR" sz="1800" b="1">
                              <a:effectLst/>
                            </a:rPr>
                            <a:t>(</a:t>
                          </a:r>
                          <a:r>
                            <a:rPr lang="ko-KR" altLang="en-US" sz="1800" b="1">
                              <a:effectLst/>
                            </a:rPr>
                            <a:t>평균 </a:t>
                          </a:r>
                          <a:r>
                            <a:rPr lang="en-US" altLang="ko-KR" sz="1800" b="1">
                              <a:effectLst/>
                            </a:rPr>
                            <a:t>± </a:t>
                          </a:r>
                          <a:r>
                            <a:rPr lang="ko-KR" altLang="en-US" sz="1800" b="1">
                              <a:effectLst/>
                            </a:rPr>
                            <a:t>표준편차</a:t>
                          </a:r>
                          <a:r>
                            <a:rPr lang="en-US" altLang="ko-KR" sz="1800" b="1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91712706"/>
                      </a:ext>
                    </a:extLst>
                  </a:tr>
                  <a:tr h="350520">
                    <a:tc rowSpan="2"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730" t="-56364" r="-289051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19.3 ± 22.5%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916394519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25.4 ± 24.4%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944890775"/>
                      </a:ext>
                    </a:extLst>
                  </a:tr>
                  <a:tr h="350520">
                    <a:tc rowSpan="2"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730" t="-153571" r="-289051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63.8 ± 14.2%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3555031301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36.7 ± 41.0%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237074517"/>
                      </a:ext>
                    </a:extLst>
                  </a:tr>
                  <a:tr h="350520">
                    <a:tc rowSpan="2"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 marL="82550" marR="82550" marT="38100" marB="38100" anchor="ctr">
                        <a:blipFill>
                          <a:blip r:embed="rId2"/>
                          <a:stretch>
                            <a:fillRect l="-730" t="-258182" r="-289051" b="-1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qwen2.5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1800" dirty="0">
                              <a:effectLst/>
                            </a:rPr>
                            <a:t>0.0 ± 0.0% (</a:t>
                          </a:r>
                          <a:r>
                            <a:rPr lang="ko-KR" altLang="en-US" sz="1800" dirty="0">
                              <a:effectLst/>
                            </a:rPr>
                            <a:t>전면 재작성</a:t>
                          </a:r>
                          <a:r>
                            <a:rPr lang="en-US" altLang="ko-KR" sz="1800" dirty="0">
                              <a:effectLst/>
                            </a:rPr>
                            <a:t>)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087553997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dirty="0">
                            <a:effectLst/>
                          </a:endParaRP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gpt-5.4</a:t>
                          </a:r>
                        </a:p>
                      </a:txBody>
                      <a:tcPr marL="82550" marR="8255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36.4 ± 23.8%</a:t>
                          </a:r>
                        </a:p>
                      </a:txBody>
                      <a:tcPr marL="82550" marR="8255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29953124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891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1739</Words>
  <Application>Microsoft Macintosh PowerPoint</Application>
  <PresentationFormat>Widescreen</PresentationFormat>
  <Paragraphs>226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굴림</vt:lpstr>
      <vt:lpstr>맑은 고딕</vt:lpstr>
      <vt:lpstr>Arial</vt:lpstr>
      <vt:lpstr>Calibri</vt:lpstr>
      <vt:lpstr>Cambria Math</vt:lpstr>
      <vt:lpstr>Wingdings</vt:lpstr>
      <vt:lpstr>Office 테마</vt:lpstr>
      <vt:lpstr>고정점을 이용한 프로그래밍 언어 거리 측정(Measuring the Distance of Programming Languages Using Fixed-Points)</vt:lpstr>
      <vt:lpstr>연구 배경</vt:lpstr>
      <vt:lpstr>연구 가설</vt:lpstr>
      <vt:lpstr>연구 방법</vt:lpstr>
      <vt:lpstr>고정점 이론</vt:lpstr>
      <vt:lpstr>실험 대상 및 평가지표</vt:lpstr>
      <vt:lpstr>실험 결과: 변경 횟수 거리와 의미 보존</vt:lpstr>
      <vt:lpstr>MOSS 유사도</vt:lpstr>
      <vt:lpstr>MOSS 유사도</vt:lpstr>
      <vt:lpstr>결론</vt:lpstr>
      <vt:lpstr>향후 연구 과제 및 방향</vt:lpstr>
      <vt:lpstr>부록1: MOSS</vt:lpstr>
      <vt:lpstr>부록2: 문제 선별 기준</vt:lpstr>
      <vt:lpstr>부록3: LLM 비교</vt:lpstr>
      <vt:lpstr>부록4: 프로그래밍 언어 간 거리 측정</vt:lpstr>
      <vt:lpstr>부록5: MOSS 유사도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Woo Gyun</dc:creator>
  <cp:lastModifiedBy>Sangkon Han</cp:lastModifiedBy>
  <cp:revision>253</cp:revision>
  <dcterms:created xsi:type="dcterms:W3CDTF">2017-01-07T16:29:34Z</dcterms:created>
  <dcterms:modified xsi:type="dcterms:W3CDTF">2026-04-24T08:55:49Z</dcterms:modified>
</cp:coreProperties>
</file>